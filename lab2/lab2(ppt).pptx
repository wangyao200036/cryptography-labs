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753600" cy="7315200"/>
  <p:notesSz cx="9753600" cy="7315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1521777"/>
            <a:ext cx="8283575" cy="600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375" y="2171700"/>
            <a:ext cx="8334375" cy="3486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231389"/>
            <a:ext cx="466280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114">
                <a:solidFill>
                  <a:srgbClr val="224466"/>
                </a:solidFill>
              </a:rPr>
              <a:t>Шифры</a:t>
            </a:r>
            <a:r>
              <a:rPr dirty="0" sz="3450" spc="10">
                <a:solidFill>
                  <a:srgbClr val="224466"/>
                </a:solidFill>
              </a:rPr>
              <a:t> </a:t>
            </a:r>
            <a:r>
              <a:rPr dirty="0" sz="3450" spc="50">
                <a:solidFill>
                  <a:srgbClr val="224466"/>
                </a:solidFill>
              </a:rPr>
              <a:t>перестановки</a:t>
            </a:r>
            <a:endParaRPr sz="3450"/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3142932"/>
            <a:ext cx="4985385" cy="1906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>
                <a:solidFill>
                  <a:srgbClr val="333333"/>
                </a:solidFill>
                <a:latin typeface="Segoe UI"/>
                <a:cs typeface="Segoe UI"/>
              </a:rPr>
              <a:t>Теория,</a:t>
            </a:r>
            <a:r>
              <a:rPr dirty="0" sz="280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800" spc="60">
                <a:solidFill>
                  <a:srgbClr val="333333"/>
                </a:solidFill>
                <a:latin typeface="Segoe UI"/>
                <a:cs typeface="Segoe UI"/>
              </a:rPr>
              <a:t>реализация</a:t>
            </a:r>
            <a:r>
              <a:rPr dirty="0" sz="280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800" spc="65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dirty="0" sz="280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800" spc="45">
                <a:solidFill>
                  <a:srgbClr val="333333"/>
                </a:solidFill>
                <a:latin typeface="Segoe UI"/>
                <a:cs typeface="Segoe UI"/>
              </a:rPr>
              <a:t>анализ</a:t>
            </a:r>
            <a:endParaRPr sz="2800">
              <a:latin typeface="Segoe UI"/>
              <a:cs typeface="Segoe UI"/>
            </a:endParaRPr>
          </a:p>
          <a:p>
            <a:pPr marL="12700" marR="2164715">
              <a:lnSpc>
                <a:spcPct val="125000"/>
              </a:lnSpc>
              <a:spcBef>
                <a:spcPts val="174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Студент: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Ван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333333"/>
                </a:solidFill>
                <a:latin typeface="Segoe UI"/>
                <a:cs typeface="Segoe UI"/>
              </a:rPr>
              <a:t>Яо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Группа:</a:t>
            </a:r>
            <a:r>
              <a:rPr dirty="0" sz="21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НФИмд‐01‐25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РУДН,</a:t>
            </a:r>
            <a:r>
              <a:rPr dirty="0" sz="21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2025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978977"/>
            <a:ext cx="1831339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Содержание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06475" y="2385695"/>
            <a:ext cx="4575810" cy="2911475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292735" indent="-280035">
              <a:lnSpc>
                <a:spcPct val="100000"/>
              </a:lnSpc>
              <a:spcBef>
                <a:spcPts val="1340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Введение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шифры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перестановки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Маршрутное</a:t>
            </a:r>
            <a:r>
              <a:rPr dirty="0" sz="21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шифрование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Шифр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Виженера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Шифрование</a:t>
            </a:r>
            <a:r>
              <a:rPr dirty="0" sz="2150" spc="1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решетками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Сравнительный</a:t>
            </a:r>
            <a:r>
              <a:rPr dirty="0" sz="2150" spc="1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анализ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Заключение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выводы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521777"/>
            <a:ext cx="5156835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35"/>
              <a:t>1.</a:t>
            </a:r>
            <a:r>
              <a:rPr dirty="0" spc="70"/>
              <a:t> </a:t>
            </a:r>
            <a:r>
              <a:rPr dirty="0"/>
              <a:t>Введение</a:t>
            </a:r>
            <a:r>
              <a:rPr dirty="0" spc="70"/>
              <a:t> </a:t>
            </a:r>
            <a:r>
              <a:rPr dirty="0"/>
              <a:t>в</a:t>
            </a:r>
            <a:r>
              <a:rPr dirty="0" spc="75"/>
              <a:t> </a:t>
            </a:r>
            <a:r>
              <a:rPr dirty="0" spc="55"/>
              <a:t>шифры</a:t>
            </a:r>
            <a:r>
              <a:rPr dirty="0" spc="70"/>
              <a:t> </a:t>
            </a:r>
            <a:r>
              <a:rPr dirty="0" spc="-10"/>
              <a:t>перестановки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2004695"/>
            <a:ext cx="8272145" cy="3759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41630" indent="187325">
              <a:lnSpc>
                <a:spcPct val="125000"/>
              </a:lnSpc>
              <a:spcBef>
                <a:spcPts val="95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Определение:</a:t>
            </a:r>
            <a:r>
              <a:rPr dirty="0" sz="2150" spc="2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Криптографические</a:t>
            </a:r>
            <a:r>
              <a:rPr dirty="0" sz="2150" spc="2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алгоритмы,</a:t>
            </a:r>
            <a:r>
              <a:rPr dirty="0" sz="2150" spc="2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изменяющие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порядок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символов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без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изменения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их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содержания</a:t>
            </a:r>
            <a:endParaRPr sz="2150">
              <a:latin typeface="Segoe UI"/>
              <a:cs typeface="Segoe UI"/>
            </a:endParaRPr>
          </a:p>
          <a:p>
            <a:pPr marL="12700" marR="38735" indent="187325">
              <a:lnSpc>
                <a:spcPct val="125000"/>
              </a:lnSpc>
              <a:spcBef>
                <a:spcPts val="1200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Основной</a:t>
            </a:r>
            <a:r>
              <a:rPr dirty="0" sz="215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принцип:</a:t>
            </a:r>
            <a:r>
              <a:rPr dirty="0" sz="21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Перестановка</a:t>
            </a:r>
            <a:r>
              <a:rPr dirty="0" sz="215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символов</a:t>
            </a:r>
            <a:r>
              <a:rPr dirty="0" sz="2150" spc="1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открытого</a:t>
            </a:r>
            <a:r>
              <a:rPr dirty="0" sz="21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текста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согласно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определенному</a:t>
            </a:r>
            <a:r>
              <a:rPr dirty="0" sz="21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правилу</a:t>
            </a:r>
            <a:endParaRPr sz="2150">
              <a:latin typeface="Segoe UI"/>
              <a:cs typeface="Segoe UI"/>
            </a:endParaRPr>
          </a:p>
          <a:p>
            <a:pPr marL="12700" marR="5080" indent="187325">
              <a:lnSpc>
                <a:spcPct val="125000"/>
              </a:lnSpc>
              <a:spcBef>
                <a:spcPts val="1200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Историческое</a:t>
            </a:r>
            <a:r>
              <a:rPr dirty="0" sz="2150" spc="1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значение:</a:t>
            </a:r>
            <a:r>
              <a:rPr dirty="0" sz="21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Широко</a:t>
            </a:r>
            <a:r>
              <a:rPr dirty="0" sz="21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использовались</a:t>
            </a:r>
            <a:r>
              <a:rPr dirty="0" sz="21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dirty="0" sz="21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военной</a:t>
            </a:r>
            <a:r>
              <a:rPr dirty="0" sz="2150" spc="1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и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дипломатической</a:t>
            </a:r>
            <a:r>
              <a:rPr dirty="0" sz="2150" spc="1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переписке</a:t>
            </a:r>
            <a:endParaRPr sz="2150">
              <a:latin typeface="Segoe UI"/>
              <a:cs typeface="Segoe UI"/>
            </a:endParaRPr>
          </a:p>
          <a:p>
            <a:pPr marL="12700" marR="482600" indent="187325">
              <a:lnSpc>
                <a:spcPct val="125000"/>
              </a:lnSpc>
              <a:spcBef>
                <a:spcPts val="1200"/>
              </a:spcBef>
              <a:buChar char="•"/>
              <a:tabLst>
                <a:tab pos="200025" algn="l"/>
              </a:tabLst>
            </a:pP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Ключевое</a:t>
            </a:r>
            <a:r>
              <a:rPr dirty="0" sz="215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требование:</a:t>
            </a:r>
            <a:r>
              <a:rPr dirty="0" sz="215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Равенство</a:t>
            </a:r>
            <a:r>
              <a:rPr dirty="0" sz="2150" spc="1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длин</a:t>
            </a:r>
            <a:r>
              <a:rPr dirty="0" sz="215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ключа</a:t>
            </a:r>
            <a:r>
              <a:rPr dirty="0" sz="215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dirty="0" sz="215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исходного текста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09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2.</a:t>
            </a:r>
            <a:r>
              <a:rPr dirty="0" spc="200"/>
              <a:t> </a:t>
            </a:r>
            <a:r>
              <a:rPr dirty="0"/>
              <a:t>Маршрутное</a:t>
            </a:r>
            <a:r>
              <a:rPr dirty="0" spc="200"/>
              <a:t> </a:t>
            </a:r>
            <a:r>
              <a:rPr dirty="0" spc="-10"/>
              <a:t>шифрование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971925"/>
            <a:ext cx="95250" cy="9525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4448175"/>
            <a:ext cx="95250" cy="952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5334000"/>
            <a:ext cx="95250" cy="9525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35012" y="2214245"/>
            <a:ext cx="8110220" cy="33305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87325">
              <a:lnSpc>
                <a:spcPct val="125000"/>
              </a:lnSpc>
              <a:spcBef>
                <a:spcPts val="95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История: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Разработано</a:t>
            </a:r>
            <a:r>
              <a:rPr dirty="0" sz="215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Франсуа</a:t>
            </a:r>
            <a:r>
              <a:rPr dirty="0" sz="215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Виетом,</a:t>
            </a:r>
            <a:r>
              <a:rPr dirty="0" sz="215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использовалось</a:t>
            </a:r>
            <a:r>
              <a:rPr dirty="0" sz="215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Мата Хари</a:t>
            </a:r>
            <a:endParaRPr sz="2150">
              <a:latin typeface="Segoe UI"/>
              <a:cs typeface="Segoe UI"/>
            </a:endParaRPr>
          </a:p>
          <a:p>
            <a:pPr marL="200025" indent="-187325">
              <a:lnSpc>
                <a:spcPct val="100000"/>
              </a:lnSpc>
              <a:spcBef>
                <a:spcPts val="1845"/>
              </a:spcBef>
              <a:buChar char="•"/>
              <a:tabLst>
                <a:tab pos="200025" algn="l"/>
              </a:tabLst>
            </a:pP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Алгоритм: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84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Текст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записывается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таблицу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m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×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n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построчно</a:t>
            </a:r>
            <a:endParaRPr sz="2150">
              <a:latin typeface="Segoe UI"/>
              <a:cs typeface="Segoe UI"/>
            </a:endParaRPr>
          </a:p>
          <a:p>
            <a:pPr marL="565150" marR="182245">
              <a:lnSpc>
                <a:spcPct val="125000"/>
              </a:lnSpc>
              <a:spcBef>
                <a:spcPts val="52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Столбцы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переупорядочиваются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</a:t>
            </a:r>
            <a:r>
              <a:rPr dirty="0" sz="21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алфавитному</a:t>
            </a:r>
            <a:r>
              <a:rPr dirty="0" sz="21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порядку пароля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170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Шифртекст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формируется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чтением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столбцам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293177"/>
            <a:ext cx="2762250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3.</a:t>
            </a:r>
            <a:r>
              <a:rPr dirty="0" spc="125"/>
              <a:t> </a:t>
            </a:r>
            <a:r>
              <a:rPr dirty="0"/>
              <a:t>Шифр</a:t>
            </a:r>
            <a:r>
              <a:rPr dirty="0" spc="130"/>
              <a:t> </a:t>
            </a:r>
            <a:r>
              <a:rPr dirty="0" spc="-10"/>
              <a:t>Виженера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96912" y="1776095"/>
            <a:ext cx="8272145" cy="421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 marR="17780" indent="187325">
              <a:lnSpc>
                <a:spcPct val="125000"/>
              </a:lnSpc>
              <a:spcBef>
                <a:spcPts val="95"/>
              </a:spcBef>
              <a:buChar char="•"/>
              <a:tabLst>
                <a:tab pos="2381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История: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Опубликован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1585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году,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считался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нераскрываемым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до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1863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года</a:t>
            </a:r>
            <a:endParaRPr sz="2150">
              <a:latin typeface="Segoe UI"/>
              <a:cs typeface="Segoe UI"/>
            </a:endParaRPr>
          </a:p>
          <a:p>
            <a:pPr marL="50800" marR="22225" indent="187325">
              <a:lnSpc>
                <a:spcPct val="125000"/>
              </a:lnSpc>
              <a:spcBef>
                <a:spcPts val="1200"/>
              </a:spcBef>
              <a:buChar char="•"/>
              <a:tabLst>
                <a:tab pos="2381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Принцип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работы: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Многоалфавитная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замена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использованием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ключевого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слова</a:t>
            </a:r>
            <a:endParaRPr sz="2150">
              <a:latin typeface="Segoe UI"/>
              <a:cs typeface="Segoe UI"/>
            </a:endParaRPr>
          </a:p>
          <a:p>
            <a:pPr marL="238125" indent="-187325">
              <a:lnSpc>
                <a:spcPct val="100000"/>
              </a:lnSpc>
              <a:spcBef>
                <a:spcPts val="1845"/>
              </a:spcBef>
              <a:buChar char="•"/>
              <a:tabLst>
                <a:tab pos="2381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Математическая</a:t>
            </a:r>
            <a:r>
              <a:rPr dirty="0" sz="21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модель:</a:t>
            </a:r>
            <a:endParaRPr sz="2150">
              <a:latin typeface="Segoe UI"/>
              <a:cs typeface="Segoe UI"/>
            </a:endParaRPr>
          </a:p>
          <a:p>
            <a:pPr algn="ctr" marL="85725">
              <a:lnSpc>
                <a:spcPct val="100000"/>
              </a:lnSpc>
              <a:spcBef>
                <a:spcPts val="2370"/>
              </a:spcBef>
            </a:pPr>
            <a:r>
              <a:rPr dirty="0" sz="2600" spc="105" i="1">
                <a:solidFill>
                  <a:srgbClr val="333333"/>
                </a:solidFill>
                <a:latin typeface="Arial"/>
                <a:cs typeface="Arial"/>
              </a:rPr>
              <a:t>C</a:t>
            </a:r>
            <a:r>
              <a:rPr dirty="0" baseline="-12012" sz="2775" spc="157" i="1">
                <a:solidFill>
                  <a:srgbClr val="333333"/>
                </a:solidFill>
                <a:latin typeface="Arial"/>
                <a:cs typeface="Arial"/>
              </a:rPr>
              <a:t>i</a:t>
            </a:r>
            <a:r>
              <a:rPr dirty="0" baseline="-12012" sz="2775" spc="509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2600" spc="150">
                <a:solidFill>
                  <a:srgbClr val="333333"/>
                </a:solidFill>
                <a:latin typeface="Tahoma"/>
                <a:cs typeface="Tahoma"/>
              </a:rPr>
              <a:t>=</a:t>
            </a:r>
            <a:r>
              <a:rPr dirty="0" sz="2600" spc="-8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333333"/>
                </a:solidFill>
                <a:latin typeface="Tahoma"/>
                <a:cs typeface="Tahoma"/>
              </a:rPr>
              <a:t>(</a:t>
            </a:r>
            <a:r>
              <a:rPr dirty="0" sz="2600" spc="60" i="1">
                <a:solidFill>
                  <a:srgbClr val="333333"/>
                </a:solidFill>
                <a:latin typeface="Arial"/>
                <a:cs typeface="Arial"/>
              </a:rPr>
              <a:t>P</a:t>
            </a:r>
            <a:r>
              <a:rPr dirty="0" baseline="-12012" sz="2775" spc="89" i="1">
                <a:solidFill>
                  <a:srgbClr val="333333"/>
                </a:solidFill>
                <a:latin typeface="Arial"/>
                <a:cs typeface="Arial"/>
              </a:rPr>
              <a:t>i</a:t>
            </a:r>
            <a:r>
              <a:rPr dirty="0" baseline="-12012" sz="2775" spc="30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2600" spc="150">
                <a:solidFill>
                  <a:srgbClr val="333333"/>
                </a:solidFill>
                <a:latin typeface="Tahoma"/>
                <a:cs typeface="Tahoma"/>
              </a:rPr>
              <a:t>+</a:t>
            </a:r>
            <a:r>
              <a:rPr dirty="0" sz="2600" spc="-225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600" spc="85" i="1">
                <a:solidFill>
                  <a:srgbClr val="333333"/>
                </a:solidFill>
                <a:latin typeface="Arial"/>
                <a:cs typeface="Arial"/>
              </a:rPr>
              <a:t>K</a:t>
            </a:r>
            <a:r>
              <a:rPr dirty="0" baseline="-12012" sz="2775" spc="127" i="1">
                <a:solidFill>
                  <a:srgbClr val="333333"/>
                </a:solidFill>
                <a:latin typeface="Arial"/>
                <a:cs typeface="Arial"/>
              </a:rPr>
              <a:t>i</a:t>
            </a:r>
            <a:r>
              <a:rPr dirty="0" sz="2600" spc="85">
                <a:solidFill>
                  <a:srgbClr val="333333"/>
                </a:solidFill>
                <a:latin typeface="Tahoma"/>
                <a:cs typeface="Tahoma"/>
              </a:rPr>
              <a:t>)</a:t>
            </a:r>
            <a:r>
              <a:rPr dirty="0" sz="2600" spc="85" i="1">
                <a:solidFill>
                  <a:srgbClr val="333333"/>
                </a:solidFill>
                <a:latin typeface="Arial"/>
                <a:cs typeface="Arial"/>
              </a:rPr>
              <a:t>mod</a:t>
            </a:r>
            <a:r>
              <a:rPr dirty="0" sz="2600" spc="85">
                <a:solidFill>
                  <a:srgbClr val="333333"/>
                </a:solidFill>
                <a:latin typeface="Tahoma"/>
                <a:cs typeface="Tahoma"/>
              </a:rPr>
              <a:t>(</a:t>
            </a:r>
            <a:r>
              <a:rPr dirty="0" sz="2600" spc="85" i="1">
                <a:solidFill>
                  <a:srgbClr val="333333"/>
                </a:solidFill>
                <a:latin typeface="Arial"/>
                <a:cs typeface="Arial"/>
              </a:rPr>
              <a:t>m</a:t>
            </a:r>
            <a:r>
              <a:rPr dirty="0" sz="2600" spc="85">
                <a:solidFill>
                  <a:srgbClr val="333333"/>
                </a:solidFill>
                <a:latin typeface="Tahoma"/>
                <a:cs typeface="Tahoma"/>
              </a:rPr>
              <a:t>)</a:t>
            </a:r>
            <a:endParaRPr sz="2600">
              <a:latin typeface="Tahoma"/>
              <a:cs typeface="Tahoma"/>
            </a:endParaRPr>
          </a:p>
          <a:p>
            <a:pPr marL="50800" marR="432434">
              <a:lnSpc>
                <a:spcPct val="125000"/>
              </a:lnSpc>
              <a:spcBef>
                <a:spcPts val="172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где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80">
                <a:solidFill>
                  <a:srgbClr val="333333"/>
                </a:solidFill>
                <a:latin typeface="Tahoma"/>
                <a:cs typeface="Tahoma"/>
              </a:rPr>
              <a:t>(</a:t>
            </a:r>
            <a:r>
              <a:rPr dirty="0" sz="2600" spc="80" i="1">
                <a:solidFill>
                  <a:srgbClr val="333333"/>
                </a:solidFill>
                <a:latin typeface="Arial"/>
                <a:cs typeface="Arial"/>
              </a:rPr>
              <a:t>P</a:t>
            </a:r>
            <a:r>
              <a:rPr dirty="0" baseline="-12012" sz="2775" spc="120" i="1">
                <a:solidFill>
                  <a:srgbClr val="333333"/>
                </a:solidFill>
                <a:latin typeface="Arial"/>
                <a:cs typeface="Arial"/>
              </a:rPr>
              <a:t>i</a:t>
            </a:r>
            <a:r>
              <a:rPr dirty="0" sz="2600" spc="80">
                <a:solidFill>
                  <a:srgbClr val="333333"/>
                </a:solidFill>
                <a:latin typeface="Tahoma"/>
                <a:cs typeface="Tahoma"/>
              </a:rPr>
              <a:t>)</a:t>
            </a:r>
            <a:r>
              <a:rPr dirty="0" sz="2600" spc="-195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‐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буква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открытого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текста,</a:t>
            </a:r>
            <a:r>
              <a:rPr dirty="0" sz="21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215">
                <a:solidFill>
                  <a:srgbClr val="333333"/>
                </a:solidFill>
                <a:latin typeface="Tahoma"/>
                <a:cs typeface="Tahoma"/>
              </a:rPr>
              <a:t>(</a:t>
            </a:r>
            <a:r>
              <a:rPr dirty="0" sz="2600" spc="215" i="1">
                <a:solidFill>
                  <a:srgbClr val="333333"/>
                </a:solidFill>
                <a:latin typeface="Arial"/>
                <a:cs typeface="Arial"/>
              </a:rPr>
              <a:t>K</a:t>
            </a:r>
            <a:r>
              <a:rPr dirty="0" baseline="-12012" sz="2775" spc="322" i="1">
                <a:solidFill>
                  <a:srgbClr val="333333"/>
                </a:solidFill>
                <a:latin typeface="Arial"/>
                <a:cs typeface="Arial"/>
              </a:rPr>
              <a:t>i</a:t>
            </a:r>
            <a:r>
              <a:rPr dirty="0" sz="2600" spc="215">
                <a:solidFill>
                  <a:srgbClr val="333333"/>
                </a:solidFill>
                <a:latin typeface="Tahoma"/>
                <a:cs typeface="Tahoma"/>
              </a:rPr>
              <a:t>)</a:t>
            </a:r>
            <a:r>
              <a:rPr dirty="0" sz="2600" spc="-19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‐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буква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ключа,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50">
                <a:solidFill>
                  <a:srgbClr val="333333"/>
                </a:solidFill>
                <a:latin typeface="Tahoma"/>
                <a:cs typeface="Tahoma"/>
              </a:rPr>
              <a:t>(</a:t>
            </a:r>
            <a:r>
              <a:rPr dirty="0" sz="2600" spc="50" i="1">
                <a:solidFill>
                  <a:srgbClr val="333333"/>
                </a:solidFill>
                <a:latin typeface="Arial"/>
                <a:cs typeface="Arial"/>
              </a:rPr>
              <a:t>m</a:t>
            </a:r>
            <a:r>
              <a:rPr dirty="0" sz="2600" spc="50">
                <a:solidFill>
                  <a:srgbClr val="333333"/>
                </a:solidFill>
                <a:latin typeface="Tahoma"/>
                <a:cs typeface="Tahoma"/>
              </a:rPr>
              <a:t>)</a:t>
            </a:r>
            <a:r>
              <a:rPr dirty="0" sz="2600" spc="-195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‐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размер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алфавита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731202"/>
            <a:ext cx="3970654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60"/>
              <a:t>4.</a:t>
            </a:r>
            <a:r>
              <a:rPr dirty="0" spc="160"/>
              <a:t> </a:t>
            </a:r>
            <a:r>
              <a:rPr dirty="0"/>
              <a:t>Шифрование</a:t>
            </a:r>
            <a:r>
              <a:rPr dirty="0" spc="160"/>
              <a:t> </a:t>
            </a:r>
            <a:r>
              <a:rPr dirty="0" spc="-10"/>
              <a:t>решетками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1292225"/>
            <a:ext cx="7767320" cy="526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00025" indent="-187325">
              <a:lnSpc>
                <a:spcPct val="100000"/>
              </a:lnSpc>
              <a:spcBef>
                <a:spcPts val="125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Автор: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Эдуард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Флейснер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﴾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1881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год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﴿</a:t>
            </a:r>
            <a:endParaRPr sz="2150">
              <a:latin typeface="Segoe UI"/>
              <a:cs typeface="Segoe UI"/>
            </a:endParaRPr>
          </a:p>
          <a:p>
            <a:pPr marL="200025" indent="-187325">
              <a:lnSpc>
                <a:spcPct val="100000"/>
              </a:lnSpc>
              <a:spcBef>
                <a:spcPts val="1845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Принцип</a:t>
            </a:r>
            <a:r>
              <a:rPr dirty="0" sz="21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работы: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Создание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вращающейся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решетки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размером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2k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×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333333"/>
                </a:solidFill>
                <a:latin typeface="Segoe UI"/>
                <a:cs typeface="Segoe UI"/>
              </a:rPr>
              <a:t>2k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1200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Последовательное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заполнение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4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положениях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﴾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0°,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90°,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180°, 270°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﴿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Чтение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столбцам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согласно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паролю</a:t>
            </a:r>
            <a:endParaRPr sz="2150">
              <a:latin typeface="Segoe UI"/>
              <a:cs typeface="Segoe UI"/>
            </a:endParaRPr>
          </a:p>
          <a:p>
            <a:pPr marL="200025" indent="-187325">
              <a:lnSpc>
                <a:spcPct val="100000"/>
              </a:lnSpc>
              <a:spcBef>
                <a:spcPts val="1845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Процесс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создания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решетки:</a:t>
            </a:r>
            <a:endParaRPr sz="2150">
              <a:latin typeface="Segoe UI"/>
              <a:cs typeface="Segoe UI"/>
            </a:endParaRPr>
          </a:p>
          <a:p>
            <a:pPr marL="12700" marR="1462405">
              <a:lnSpc>
                <a:spcPct val="171500"/>
              </a:lnSpc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Создание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базового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квадрата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k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×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k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числами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1‐k²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Поворот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объединение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большой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квадрат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Вырезание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отверстий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записи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текста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752475" y="2171700"/>
          <a:ext cx="8334375" cy="3486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0"/>
                <a:gridCol w="2019300"/>
                <a:gridCol w="2009775"/>
                <a:gridCol w="2238375"/>
              </a:tblGrid>
              <a:tr h="533400">
                <a:tc>
                  <a:txBody>
                    <a:bodyPr/>
                    <a:lstStyle/>
                    <a:p>
                      <a:pPr marL="31623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Параметр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Маршрутное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Виженера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848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Решетки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Безопасность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Низкая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Средняя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Высокая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Сложность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Простая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Средняя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Высокая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94297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Гибкость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3028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Высокая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3028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 marR="594360">
                        <a:lnSpc>
                          <a:spcPct val="125000"/>
                        </a:lnSpc>
                        <a:spcBef>
                          <a:spcPts val="165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Ключевое слово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Низкая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3028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94297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dirty="0" sz="2150" spc="-2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Ключ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3028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Пароль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3028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2385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Среднее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30289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 marR="895350">
                        <a:lnSpc>
                          <a:spcPct val="125000"/>
                        </a:lnSpc>
                        <a:spcBef>
                          <a:spcPts val="165"/>
                        </a:spcBef>
                      </a:pP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Пароль</a:t>
                      </a:r>
                      <a:r>
                        <a:rPr dirty="0" sz="2150" spc="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+ </a:t>
                      </a: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решетка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7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5.</a:t>
            </a:r>
            <a:r>
              <a:rPr dirty="0" spc="225"/>
              <a:t> </a:t>
            </a:r>
            <a:r>
              <a:rPr dirty="0"/>
              <a:t>Сравнительный</a:t>
            </a:r>
            <a:r>
              <a:rPr dirty="0" spc="229"/>
              <a:t> </a:t>
            </a:r>
            <a:r>
              <a:rPr dirty="0" spc="-10"/>
              <a:t>анализ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93027"/>
            <a:ext cx="4334510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6.</a:t>
            </a:r>
            <a:r>
              <a:rPr dirty="0" spc="114"/>
              <a:t> </a:t>
            </a:r>
            <a:r>
              <a:rPr dirty="0"/>
              <a:t>Реализация</a:t>
            </a:r>
            <a:r>
              <a:rPr dirty="0" spc="114"/>
              <a:t> </a:t>
            </a:r>
            <a:r>
              <a:rPr dirty="0"/>
              <a:t>и</a:t>
            </a:r>
            <a:r>
              <a:rPr dirty="0" spc="120"/>
              <a:t> </a:t>
            </a:r>
            <a:r>
              <a:rPr dirty="0" spc="-10"/>
              <a:t>тестирование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654050"/>
            <a:ext cx="6486525" cy="65385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Маршрутное</a:t>
            </a:r>
            <a:r>
              <a:rPr dirty="0" sz="21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шифрование:</a:t>
            </a:r>
            <a:endParaRPr sz="2150">
              <a:latin typeface="Segoe UI"/>
              <a:cs typeface="Segoe UI"/>
            </a:endParaRPr>
          </a:p>
          <a:p>
            <a:pPr marL="12700" marR="1063625">
              <a:lnSpc>
                <a:spcPct val="171500"/>
              </a:lnSpc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Вход: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"нельзя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недооценивать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противника"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Пароль: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"пароль",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размер: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333333"/>
                </a:solidFill>
                <a:latin typeface="Segoe UI"/>
                <a:cs typeface="Segoe UI"/>
              </a:rPr>
              <a:t>5×6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Выход: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"ЕЕНПНЗОАТАЬОВОКННЕЬВЛДИРИЯЦТИА"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Шифр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Виженера:</a:t>
            </a:r>
            <a:endParaRPr sz="2150">
              <a:latin typeface="Segoe UI"/>
              <a:cs typeface="Segoe UI"/>
            </a:endParaRPr>
          </a:p>
          <a:p>
            <a:pPr marL="12700" marR="1579880">
              <a:lnSpc>
                <a:spcPct val="171500"/>
              </a:lnSpc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Вход: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"криптография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серьезная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наука"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Ключ: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"математика"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Выход: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"ЦРЪФЮОХШКФФЯГКЬЬЧПЧАЛНТШЦА"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Шифр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решетками:</a:t>
            </a:r>
            <a:endParaRPr sz="2150">
              <a:latin typeface="Segoe UI"/>
              <a:cs typeface="Segoe UI"/>
            </a:endParaRPr>
          </a:p>
          <a:p>
            <a:pPr marL="12700" marR="3021965">
              <a:lnSpc>
                <a:spcPct val="171500"/>
              </a:lnSpc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Вход: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"договор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подписали"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Пароль: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"шифр",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k</a:t>
            </a:r>
            <a:r>
              <a:rPr dirty="0" sz="2150" spc="2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=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2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Выход: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"ОВОРДЛГПАПИОСДОИ"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007427"/>
            <a:ext cx="4390390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7.</a:t>
            </a:r>
            <a:r>
              <a:rPr dirty="0" spc="120"/>
              <a:t> </a:t>
            </a:r>
            <a:r>
              <a:rPr dirty="0"/>
              <a:t>Криптоанализ</a:t>
            </a:r>
            <a:r>
              <a:rPr dirty="0" spc="120"/>
              <a:t> </a:t>
            </a:r>
            <a:r>
              <a:rPr dirty="0"/>
              <a:t>и</a:t>
            </a:r>
            <a:r>
              <a:rPr dirty="0" spc="120"/>
              <a:t> </a:t>
            </a:r>
            <a:r>
              <a:rPr dirty="0" spc="-10"/>
              <a:t>уязвимости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1568450"/>
            <a:ext cx="7719695" cy="4700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Общие</a:t>
            </a:r>
            <a:r>
              <a:rPr dirty="0" sz="21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уязвимости:</a:t>
            </a:r>
            <a:endParaRPr sz="2150">
              <a:latin typeface="Segoe UI"/>
              <a:cs typeface="Segoe UI"/>
            </a:endParaRPr>
          </a:p>
          <a:p>
            <a:pPr marL="12700" marR="2083435">
              <a:lnSpc>
                <a:spcPct val="171500"/>
              </a:lnSpc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Сохранение</a:t>
            </a:r>
            <a:r>
              <a:rPr dirty="0" sz="21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частотных</a:t>
            </a:r>
            <a:r>
              <a:rPr dirty="0" sz="21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характеристик</a:t>
            </a:r>
            <a:r>
              <a:rPr dirty="0" sz="215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языка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Уязвимость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анаграммному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анализу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Ограниченное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пространство</a:t>
            </a:r>
            <a:r>
              <a:rPr dirty="0" sz="215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ключей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Специфические</a:t>
            </a:r>
            <a:r>
              <a:rPr dirty="0" sz="2150" spc="1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уязвимости:</a:t>
            </a:r>
            <a:endParaRPr sz="2150">
              <a:latin typeface="Segoe UI"/>
              <a:cs typeface="Segoe UI"/>
            </a:endParaRPr>
          </a:p>
          <a:p>
            <a:pPr marL="12700" marR="1356995">
              <a:lnSpc>
                <a:spcPct val="171500"/>
              </a:lnSpc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Маршрутное:</a:t>
            </a:r>
            <a:r>
              <a:rPr dirty="0" sz="21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угадывание</a:t>
            </a:r>
            <a:r>
              <a:rPr dirty="0" sz="21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размеров</a:t>
            </a:r>
            <a:r>
              <a:rPr dirty="0" sz="21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таблицы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Виженера: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периодичность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ключа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﴾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метод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Казиски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﴿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1200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Решетки: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сложность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создания,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но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уязвимость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при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известной решетке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826452"/>
            <a:ext cx="3630929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8.</a:t>
            </a:r>
            <a:r>
              <a:rPr dirty="0" spc="150"/>
              <a:t> </a:t>
            </a:r>
            <a:r>
              <a:rPr dirty="0"/>
              <a:t>Заключение</a:t>
            </a:r>
            <a:r>
              <a:rPr dirty="0" spc="150"/>
              <a:t> </a:t>
            </a:r>
            <a:r>
              <a:rPr dirty="0"/>
              <a:t>и</a:t>
            </a:r>
            <a:r>
              <a:rPr dirty="0" spc="150"/>
              <a:t> </a:t>
            </a:r>
            <a:r>
              <a:rPr dirty="0" spc="45"/>
              <a:t>выводы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1309369"/>
            <a:ext cx="8169909" cy="5140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6990" indent="187325">
              <a:lnSpc>
                <a:spcPct val="125000"/>
              </a:lnSpc>
              <a:spcBef>
                <a:spcPts val="95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Теоретическая</a:t>
            </a:r>
            <a:r>
              <a:rPr dirty="0" sz="21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ценность: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Понимание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исторического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развития криптографии</a:t>
            </a:r>
            <a:endParaRPr sz="2150">
              <a:latin typeface="Segoe UI"/>
              <a:cs typeface="Segoe UI"/>
            </a:endParaRPr>
          </a:p>
          <a:p>
            <a:pPr marL="12700" marR="12700" indent="187325">
              <a:lnSpc>
                <a:spcPct val="125000"/>
              </a:lnSpc>
              <a:spcBef>
                <a:spcPts val="1200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Практическая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значимость: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Основа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изучения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современных алгоритмов</a:t>
            </a:r>
            <a:endParaRPr sz="2150">
              <a:latin typeface="Segoe UI"/>
              <a:cs typeface="Segoe UI"/>
            </a:endParaRPr>
          </a:p>
          <a:p>
            <a:pPr marL="200025" indent="-187325">
              <a:lnSpc>
                <a:spcPct val="100000"/>
              </a:lnSpc>
              <a:spcBef>
                <a:spcPts val="1845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Криптостойкость:</a:t>
            </a:r>
            <a:r>
              <a:rPr dirty="0" sz="21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Недостаточна</a:t>
            </a:r>
            <a:r>
              <a:rPr dirty="0" sz="21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современных</a:t>
            </a:r>
            <a:r>
              <a:rPr dirty="0" sz="21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требований</a:t>
            </a:r>
            <a:endParaRPr sz="2150">
              <a:latin typeface="Segoe UI"/>
              <a:cs typeface="Segoe UI"/>
            </a:endParaRPr>
          </a:p>
          <a:p>
            <a:pPr marL="12700" marR="52705" indent="187325">
              <a:lnSpc>
                <a:spcPct val="125000"/>
              </a:lnSpc>
              <a:spcBef>
                <a:spcPts val="1200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Образовательная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ценность: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Отличные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примеры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изучения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базовых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принципов</a:t>
            </a:r>
            <a:endParaRPr sz="2150">
              <a:latin typeface="Segoe UI"/>
              <a:cs typeface="Segoe UI"/>
            </a:endParaRPr>
          </a:p>
          <a:p>
            <a:pPr marL="12700" marR="60325" indent="187325">
              <a:lnSpc>
                <a:spcPct val="125000"/>
              </a:lnSpc>
              <a:spcBef>
                <a:spcPts val="1200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Вывод:</a:t>
            </a:r>
            <a:r>
              <a:rPr dirty="0" sz="21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Шифры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перестановки</a:t>
            </a:r>
            <a:r>
              <a:rPr dirty="0" sz="21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демонстрируют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эволюцию</a:t>
            </a:r>
            <a:r>
              <a:rPr dirty="0" sz="21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333333"/>
                </a:solidFill>
                <a:latin typeface="Segoe UI"/>
                <a:cs typeface="Segoe UI"/>
              </a:rPr>
              <a:t>от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простых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более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сложным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методам,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подчеркивая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важность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333333"/>
                </a:solidFill>
                <a:latin typeface="Segoe UI"/>
                <a:cs typeface="Segoe UI"/>
              </a:rPr>
              <a:t>как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алгоритмической,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так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физической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безопасности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в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криптографии.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317240"/>
            <a:ext cx="469519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50">
                <a:solidFill>
                  <a:srgbClr val="224466"/>
                </a:solidFill>
              </a:rPr>
              <a:t>Спасибо</a:t>
            </a:r>
            <a:r>
              <a:rPr dirty="0" sz="3450" spc="15">
                <a:solidFill>
                  <a:srgbClr val="224466"/>
                </a:solidFill>
              </a:rPr>
              <a:t> </a:t>
            </a:r>
            <a:r>
              <a:rPr dirty="0" sz="3450" spc="55">
                <a:solidFill>
                  <a:srgbClr val="224466"/>
                </a:solidFill>
              </a:rPr>
              <a:t>за</a:t>
            </a:r>
            <a:r>
              <a:rPr dirty="0" sz="3450" spc="20">
                <a:solidFill>
                  <a:srgbClr val="224466"/>
                </a:solidFill>
              </a:rPr>
              <a:t> </a:t>
            </a:r>
            <a:r>
              <a:rPr dirty="0" sz="3450" spc="60">
                <a:solidFill>
                  <a:srgbClr val="224466"/>
                </a:solidFill>
              </a:rPr>
              <a:t>внимание!</a:t>
            </a:r>
            <a:endParaRPr sz="3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2025-11-09T13:15:18Z</dcterms:created>
  <dcterms:modified xsi:type="dcterms:W3CDTF">2025-11-09T13:15:18Z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2025-11-09T00:00:00Z</vt:filetime>
  </property>
  <property fmtid="{D5CDD505-2E9C-101B-9397-08002B2CF9AE}" pid="3" name="Creator">
    <vt:lpwstr>Chromium</vt:lpwstr>
  </property>
  <property fmtid="{D5CDD505-2E9C-101B-9397-08002B2CF9AE}" pid="4" name="LastSaved">
    <vt:filetime>2025-11-09T00:00:00Z</vt:filetime>
  </property>
  <property fmtid="{D5CDD505-2E9C-101B-9397-08002B2CF9AE}" pid="5" name="Producer">
    <vt:lpwstr>Skia/PDF m52</vt:lpwstr>
  </property>
</Properties>
</file>