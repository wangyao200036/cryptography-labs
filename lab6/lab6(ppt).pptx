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753600" cy="7315200"/>
  <p:notesSz cx="97536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1924589"/>
            <a:ext cx="3193415" cy="546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375" y="1609725"/>
            <a:ext cx="8334375" cy="2857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021839"/>
            <a:ext cx="545655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50">
                <a:solidFill>
                  <a:srgbClr val="224466"/>
                </a:solidFill>
              </a:rPr>
              <a:t>Лабораторная</a:t>
            </a:r>
            <a:r>
              <a:rPr dirty="0" sz="3450" spc="135">
                <a:solidFill>
                  <a:srgbClr val="224466"/>
                </a:solidFill>
              </a:rPr>
              <a:t> </a:t>
            </a:r>
            <a:r>
              <a:rPr dirty="0" sz="3450">
                <a:solidFill>
                  <a:srgbClr val="224466"/>
                </a:solidFill>
              </a:rPr>
              <a:t>работа</a:t>
            </a:r>
            <a:r>
              <a:rPr dirty="0" sz="3450" spc="150">
                <a:solidFill>
                  <a:srgbClr val="224466"/>
                </a:solidFill>
              </a:rPr>
              <a:t> </a:t>
            </a:r>
            <a:r>
              <a:rPr dirty="0" sz="3450" spc="85">
                <a:solidFill>
                  <a:srgbClr val="224466"/>
                </a:solidFill>
              </a:rPr>
              <a:t>№6</a:t>
            </a:r>
            <a:endParaRPr sz="3450"/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933382"/>
            <a:ext cx="5701030" cy="2326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>
                <a:solidFill>
                  <a:srgbClr val="333333"/>
                </a:solidFill>
                <a:latin typeface="Segoe UI"/>
                <a:cs typeface="Segoe UI"/>
              </a:rPr>
              <a:t>Разложение</a:t>
            </a:r>
            <a:r>
              <a:rPr dirty="0" sz="280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55">
                <a:solidFill>
                  <a:srgbClr val="333333"/>
                </a:solidFill>
                <a:latin typeface="Segoe UI"/>
                <a:cs typeface="Segoe UI"/>
              </a:rPr>
              <a:t>чисел</a:t>
            </a:r>
            <a:r>
              <a:rPr dirty="0" sz="280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>
                <a:solidFill>
                  <a:srgbClr val="333333"/>
                </a:solidFill>
                <a:latin typeface="Segoe UI"/>
                <a:cs typeface="Segoe UI"/>
              </a:rPr>
              <a:t>на</a:t>
            </a:r>
            <a:r>
              <a:rPr dirty="0" sz="2800" spc="1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50">
                <a:solidFill>
                  <a:srgbClr val="333333"/>
                </a:solidFill>
                <a:latin typeface="Segoe UI"/>
                <a:cs typeface="Segoe UI"/>
              </a:rPr>
              <a:t>множители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2800">
              <a:latin typeface="Segoe UI"/>
              <a:cs typeface="Segoe UI"/>
            </a:endParaRPr>
          </a:p>
          <a:p>
            <a:pPr marL="12700" marR="2880360">
              <a:lnSpc>
                <a:spcPct val="125000"/>
              </a:lnSpc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Студент: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Ван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333333"/>
                </a:solidFill>
                <a:latin typeface="Segoe UI"/>
                <a:cs typeface="Segoe UI"/>
              </a:rPr>
              <a:t>Яо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Группа:</a:t>
            </a:r>
            <a:r>
              <a:rPr dirty="0" sz="21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НФИмд‐01‐25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РУДН,</a:t>
            </a:r>
            <a:r>
              <a:rPr dirty="0" sz="21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2025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752282"/>
            <a:ext cx="2233295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75"/>
              <a:t>Цель</a:t>
            </a:r>
            <a:r>
              <a:rPr dirty="0" spc="15"/>
              <a:t> </a:t>
            </a:r>
            <a:r>
              <a:rPr dirty="0" spc="40"/>
              <a:t>работы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437" y="3929062"/>
            <a:ext cx="104775" cy="10477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4433887"/>
            <a:ext cx="104775" cy="10477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006475" y="2404745"/>
            <a:ext cx="7500620" cy="3130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2100" marR="5080" indent="-280035">
              <a:lnSpc>
                <a:spcPct val="125000"/>
              </a:lnSpc>
              <a:spcBef>
                <a:spcPts val="95"/>
              </a:spcBef>
              <a:buAutoNum type="arabicPeriod"/>
              <a:tabLst>
                <a:tab pos="29337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Изучить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теоретические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основы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алгоритмов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разложения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чисел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на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множители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Реализовать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программно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два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метода:</a:t>
            </a:r>
            <a:endParaRPr sz="2150">
              <a:latin typeface="Segoe UI"/>
              <a:cs typeface="Segoe UI"/>
            </a:endParaRPr>
          </a:p>
          <a:p>
            <a:pPr marL="845819">
              <a:lnSpc>
                <a:spcPct val="100000"/>
              </a:lnSpc>
              <a:spcBef>
                <a:spcPts val="195"/>
              </a:spcBef>
            </a:pPr>
            <a:r>
              <a:rPr dirty="0" sz="2600" i="1">
                <a:solidFill>
                  <a:srgbClr val="333333"/>
                </a:solidFill>
                <a:latin typeface="Georgia"/>
                <a:cs typeface="Georgia"/>
              </a:rPr>
              <a:t>ρ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‐метод</a:t>
            </a:r>
            <a:r>
              <a:rPr dirty="0" sz="2150" spc="-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Полларда</a:t>
            </a:r>
            <a:endParaRPr sz="2150">
              <a:latin typeface="Segoe UI"/>
              <a:cs typeface="Segoe UI"/>
            </a:endParaRPr>
          </a:p>
          <a:p>
            <a:pPr marL="845819">
              <a:lnSpc>
                <a:spcPct val="100000"/>
              </a:lnSpc>
              <a:spcBef>
                <a:spcPts val="130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Метод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квадратов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Ферма</a:t>
            </a:r>
            <a:endParaRPr sz="2150">
              <a:latin typeface="Segoe UI"/>
              <a:cs typeface="Segoe UI"/>
            </a:endParaRPr>
          </a:p>
          <a:p>
            <a:pPr marL="292100" marR="328295" indent="-280035">
              <a:lnSpc>
                <a:spcPct val="125000"/>
              </a:lnSpc>
              <a:spcBef>
                <a:spcPts val="525"/>
              </a:spcBef>
              <a:buAutoNum type="arabicPeriod" startAt="3"/>
              <a:tabLst>
                <a:tab pos="29337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Провести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сравнительный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анализ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их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эффективности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и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точности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42732"/>
            <a:ext cx="325882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50"/>
              <a:t>Основные</a:t>
            </a:r>
            <a:r>
              <a:rPr dirty="0" spc="40"/>
              <a:t> </a:t>
            </a:r>
            <a:r>
              <a:rPr dirty="0" spc="50"/>
              <a:t>понятия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428875"/>
            <a:ext cx="95250" cy="952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204720"/>
            <a:ext cx="7383145" cy="354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Факторизация:</a:t>
            </a:r>
            <a:r>
              <a:rPr dirty="0" sz="21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разложение</a:t>
            </a:r>
            <a:r>
              <a:rPr dirty="0" sz="21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составного</a:t>
            </a:r>
            <a:r>
              <a:rPr dirty="0" sz="21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числа</a:t>
            </a:r>
            <a:r>
              <a:rPr dirty="0" sz="21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на</a:t>
            </a:r>
            <a:r>
              <a:rPr dirty="0" sz="21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простые множители</a:t>
            </a:r>
            <a:endParaRPr sz="2150">
              <a:latin typeface="Segoe UI"/>
              <a:cs typeface="Segoe UI"/>
            </a:endParaRPr>
          </a:p>
          <a:p>
            <a:pPr marL="12700" marR="511809">
              <a:lnSpc>
                <a:spcPct val="125000"/>
              </a:lnSpc>
              <a:spcBef>
                <a:spcPts val="525"/>
              </a:spcBef>
            </a:pP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Нетривиальный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делитель: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делитель,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отличный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и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самого</a:t>
            </a:r>
            <a:r>
              <a:rPr dirty="0" sz="215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числа</a:t>
            </a:r>
            <a:endParaRPr sz="2150">
              <a:latin typeface="Segoe UI"/>
              <a:cs typeface="Segoe UI"/>
            </a:endParaRPr>
          </a:p>
          <a:p>
            <a:pPr marL="12700" marR="69850">
              <a:lnSpc>
                <a:spcPts val="3450"/>
              </a:lnSpc>
              <a:spcBef>
                <a:spcPts val="560"/>
              </a:spcBef>
            </a:pPr>
            <a:r>
              <a:rPr dirty="0" sz="2600" i="1">
                <a:solidFill>
                  <a:srgbClr val="333333"/>
                </a:solidFill>
                <a:latin typeface="Georgia"/>
                <a:cs typeface="Georgia"/>
              </a:rPr>
              <a:t>ρ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‐метод: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вероятностный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алгоритм,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использующий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поиск циклов</a:t>
            </a:r>
            <a:endParaRPr sz="2150">
              <a:latin typeface="Segoe UI"/>
              <a:cs typeface="Segoe UI"/>
            </a:endParaRPr>
          </a:p>
          <a:p>
            <a:pPr marL="12700" marR="792480">
              <a:lnSpc>
                <a:spcPct val="125000"/>
              </a:lnSpc>
              <a:spcBef>
                <a:spcPts val="340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Метод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Ферма:основан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на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представлении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числа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333333"/>
                </a:solidFill>
                <a:latin typeface="Segoe UI"/>
                <a:cs typeface="Segoe UI"/>
              </a:rPr>
              <a:t>как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разности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квадратов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314700"/>
            <a:ext cx="95250" cy="9525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200525"/>
            <a:ext cx="95250" cy="9525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512445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00" i="1">
                <a:latin typeface="Georgia"/>
                <a:cs typeface="Georgia"/>
              </a:rPr>
              <a:t>ρ</a:t>
            </a:r>
            <a:r>
              <a:rPr dirty="0"/>
              <a:t>‐метод</a:t>
            </a:r>
            <a:r>
              <a:rPr dirty="0" spc="125"/>
              <a:t> </a:t>
            </a:r>
            <a:r>
              <a:rPr dirty="0" spc="55"/>
              <a:t>Полларда</a:t>
            </a:r>
            <a:endParaRPr sz="3400">
              <a:latin typeface="Georgia"/>
              <a:cs typeface="Georg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22312" y="2748692"/>
            <a:ext cx="7480934" cy="25412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Основа: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поиск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цикла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последовательности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60" i="1">
                <a:solidFill>
                  <a:srgbClr val="333333"/>
                </a:solidFill>
                <a:latin typeface="Georgia"/>
                <a:cs typeface="Georgia"/>
              </a:rPr>
              <a:t>x</a:t>
            </a:r>
            <a:r>
              <a:rPr dirty="0" baseline="-13513" sz="2775" spc="89" i="1">
                <a:solidFill>
                  <a:srgbClr val="333333"/>
                </a:solidFill>
                <a:latin typeface="Georgia"/>
                <a:cs typeface="Georgia"/>
              </a:rPr>
              <a:t>i</a:t>
            </a:r>
            <a:r>
              <a:rPr dirty="0" baseline="-13513" sz="2775" spc="89">
                <a:solidFill>
                  <a:srgbClr val="333333"/>
                </a:solidFill>
                <a:latin typeface="Tahoma"/>
                <a:cs typeface="Tahoma"/>
              </a:rPr>
              <a:t>+1</a:t>
            </a:r>
            <a:r>
              <a:rPr dirty="0" baseline="-13513" sz="2775" spc="54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600" spc="150">
                <a:solidFill>
                  <a:srgbClr val="333333"/>
                </a:solidFill>
                <a:latin typeface="Tahoma"/>
                <a:cs typeface="Tahoma"/>
              </a:rPr>
              <a:t>=</a:t>
            </a:r>
            <a:r>
              <a:rPr dirty="0" sz="2600" spc="-25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600" spc="430" i="1">
                <a:solidFill>
                  <a:srgbClr val="333333"/>
                </a:solidFill>
                <a:latin typeface="Georgia"/>
                <a:cs typeface="Georgia"/>
              </a:rPr>
              <a:t>f</a:t>
            </a:r>
            <a:r>
              <a:rPr dirty="0" sz="2600" spc="-325" i="1">
                <a:solidFill>
                  <a:srgbClr val="333333"/>
                </a:solidFill>
                <a:latin typeface="Georgia"/>
                <a:cs typeface="Georgia"/>
              </a:rPr>
              <a:t> </a:t>
            </a:r>
            <a:r>
              <a:rPr dirty="0" sz="2600" spc="85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dirty="0" sz="2600" spc="85" i="1">
                <a:solidFill>
                  <a:srgbClr val="333333"/>
                </a:solidFill>
                <a:latin typeface="Georgia"/>
                <a:cs typeface="Georgia"/>
              </a:rPr>
              <a:t>x</a:t>
            </a:r>
            <a:r>
              <a:rPr dirty="0" baseline="-13513" sz="2775" spc="127" i="1">
                <a:solidFill>
                  <a:srgbClr val="333333"/>
                </a:solidFill>
                <a:latin typeface="Georgia"/>
                <a:cs typeface="Georgia"/>
              </a:rPr>
              <a:t>i</a:t>
            </a:r>
            <a:r>
              <a:rPr dirty="0" sz="2600" spc="85">
                <a:solidFill>
                  <a:srgbClr val="333333"/>
                </a:solidFill>
                <a:latin typeface="Tahoma"/>
                <a:cs typeface="Tahoma"/>
              </a:rPr>
              <a:t>)</a:t>
            </a:r>
            <a:endParaRPr sz="26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980"/>
              </a:spcBef>
            </a:pP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Особенности:</a:t>
            </a:r>
            <a:endParaRPr sz="2150">
              <a:latin typeface="Segoe UI"/>
              <a:cs typeface="Segoe UI"/>
            </a:endParaRPr>
          </a:p>
          <a:p>
            <a:pPr marL="576580" indent="-280035">
              <a:lnSpc>
                <a:spcPct val="100000"/>
              </a:lnSpc>
              <a:spcBef>
                <a:spcPts val="1845"/>
              </a:spcBef>
              <a:buAutoNum type="arabicPeriod"/>
              <a:tabLst>
                <a:tab pos="57658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Использует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"черепаху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зайца"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поиска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цикла</a:t>
            </a:r>
            <a:endParaRPr sz="2150">
              <a:latin typeface="Segoe UI"/>
              <a:cs typeface="Segoe UI"/>
            </a:endParaRPr>
          </a:p>
          <a:p>
            <a:pPr marL="576580" indent="-28003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7658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Эффективен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чисел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малыми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делителями</a:t>
            </a:r>
            <a:endParaRPr sz="2150">
              <a:latin typeface="Segoe UI"/>
              <a:cs typeface="Segoe UI"/>
            </a:endParaRPr>
          </a:p>
          <a:p>
            <a:pPr marL="576580" indent="-28003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7658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Сложность: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60" i="1">
                <a:solidFill>
                  <a:srgbClr val="333333"/>
                </a:solidFill>
                <a:latin typeface="Georgia"/>
                <a:cs typeface="Georgia"/>
              </a:rPr>
              <a:t>O</a:t>
            </a:r>
            <a:r>
              <a:rPr dirty="0" sz="2600" spc="60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dirty="0" baseline="-8547" sz="3900" spc="89">
                <a:solidFill>
                  <a:srgbClr val="333333"/>
                </a:solidFill>
                <a:latin typeface="Tahoma"/>
                <a:cs typeface="Tahoma"/>
              </a:rPr>
              <a:t>√</a:t>
            </a:r>
            <a:r>
              <a:rPr dirty="0" sz="2600" spc="60" i="1">
                <a:solidFill>
                  <a:srgbClr val="333333"/>
                </a:solidFill>
                <a:latin typeface="Georgia"/>
                <a:cs typeface="Georgia"/>
              </a:rPr>
              <a:t>p</a:t>
            </a:r>
            <a:r>
              <a:rPr dirty="0" sz="2600" spc="60">
                <a:solidFill>
                  <a:srgbClr val="333333"/>
                </a:solidFill>
                <a:latin typeface="Tahoma"/>
                <a:cs typeface="Tahoma"/>
              </a:rPr>
              <a:t>)</a:t>
            </a:r>
            <a:r>
              <a:rPr dirty="0" sz="2600" spc="-185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где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-180" i="1">
                <a:solidFill>
                  <a:srgbClr val="333333"/>
                </a:solidFill>
                <a:latin typeface="Georgia"/>
                <a:cs typeface="Georgia"/>
              </a:rPr>
              <a:t>p</a:t>
            </a:r>
            <a:r>
              <a:rPr dirty="0" sz="2600" spc="-10" i="1">
                <a:solidFill>
                  <a:srgbClr val="333333"/>
                </a:solidFill>
                <a:latin typeface="Georgia"/>
                <a:cs typeface="Georgia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‐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наименьший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делитель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495675" y="4991100"/>
            <a:ext cx="161925" cy="9525"/>
          </a:xfrm>
          <a:custGeom>
            <a:avLst/>
            <a:gdLst/>
            <a:ahLst/>
            <a:cxnLst/>
            <a:rect l="l" t="t" r="r" b="b"/>
            <a:pathLst>
              <a:path w="161925" h="9525">
                <a:moveTo>
                  <a:pt x="161925" y="0"/>
                </a:moveTo>
                <a:lnTo>
                  <a:pt x="0" y="0"/>
                </a:lnTo>
                <a:lnTo>
                  <a:pt x="0" y="9525"/>
                </a:lnTo>
                <a:lnTo>
                  <a:pt x="161925" y="9525"/>
                </a:lnTo>
                <a:lnTo>
                  <a:pt x="161925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75" y="619125"/>
            <a:ext cx="7172325" cy="5991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312" y="1838007"/>
            <a:ext cx="5086350" cy="16783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/>
              <a:t>Метод</a:t>
            </a:r>
            <a:r>
              <a:rPr dirty="0" spc="130"/>
              <a:t> </a:t>
            </a:r>
            <a:r>
              <a:rPr dirty="0" spc="50"/>
              <a:t>квадратов</a:t>
            </a:r>
            <a:r>
              <a:rPr dirty="0" spc="130"/>
              <a:t> </a:t>
            </a:r>
            <a:r>
              <a:rPr dirty="0" spc="65"/>
              <a:t>Ферма</a:t>
            </a:r>
          </a:p>
          <a:p>
            <a:pPr marL="25400">
              <a:lnSpc>
                <a:spcPct val="100000"/>
              </a:lnSpc>
              <a:spcBef>
                <a:spcPts val="1939"/>
              </a:spcBef>
            </a:pPr>
            <a:r>
              <a:rPr dirty="0" sz="2150"/>
              <a:t>Основа:</a:t>
            </a:r>
            <a:r>
              <a:rPr dirty="0" sz="2150" spc="35"/>
              <a:t> </a:t>
            </a:r>
            <a:r>
              <a:rPr dirty="0" sz="2600" i="1">
                <a:latin typeface="Georgia"/>
                <a:cs typeface="Georgia"/>
              </a:rPr>
              <a:t>n</a:t>
            </a:r>
            <a:r>
              <a:rPr dirty="0" sz="2600" spc="130" i="1">
                <a:latin typeface="Georgia"/>
                <a:cs typeface="Georgia"/>
              </a:rPr>
              <a:t> </a:t>
            </a:r>
            <a:r>
              <a:rPr dirty="0" sz="2600" spc="150">
                <a:latin typeface="Tahoma"/>
                <a:cs typeface="Tahoma"/>
              </a:rPr>
              <a:t>=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 i="1">
                <a:latin typeface="Georgia"/>
                <a:cs typeface="Georgia"/>
              </a:rPr>
              <a:t>s</a:t>
            </a:r>
            <a:r>
              <a:rPr dirty="0" baseline="27027" sz="2775">
                <a:latin typeface="Tahoma"/>
                <a:cs typeface="Tahoma"/>
              </a:rPr>
              <a:t>2</a:t>
            </a:r>
            <a:r>
              <a:rPr dirty="0" baseline="27027" sz="2775" spc="254">
                <a:latin typeface="Tahoma"/>
                <a:cs typeface="Tahoma"/>
              </a:rPr>
              <a:t> </a:t>
            </a:r>
            <a:r>
              <a:rPr dirty="0" sz="2600" spc="150">
                <a:latin typeface="Tahoma"/>
                <a:cs typeface="Tahoma"/>
              </a:rPr>
              <a:t>−</a:t>
            </a:r>
            <a:r>
              <a:rPr dirty="0" sz="2600" spc="-204">
                <a:latin typeface="Tahoma"/>
                <a:cs typeface="Tahoma"/>
              </a:rPr>
              <a:t> </a:t>
            </a:r>
            <a:r>
              <a:rPr dirty="0" sz="2600" i="1">
                <a:latin typeface="Georgia"/>
                <a:cs typeface="Georgia"/>
              </a:rPr>
              <a:t>t</a:t>
            </a:r>
            <a:r>
              <a:rPr dirty="0" baseline="27027" sz="2775">
                <a:latin typeface="Tahoma"/>
                <a:cs typeface="Tahoma"/>
              </a:rPr>
              <a:t>2</a:t>
            </a:r>
            <a:r>
              <a:rPr dirty="0" baseline="27027" sz="2775" spc="487">
                <a:latin typeface="Tahoma"/>
                <a:cs typeface="Tahoma"/>
              </a:rPr>
              <a:t> </a:t>
            </a:r>
            <a:r>
              <a:rPr dirty="0" sz="2600" spc="150">
                <a:latin typeface="Tahoma"/>
                <a:cs typeface="Tahoma"/>
              </a:rPr>
              <a:t>=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 spc="55">
                <a:latin typeface="Tahoma"/>
                <a:cs typeface="Tahoma"/>
              </a:rPr>
              <a:t>(</a:t>
            </a:r>
            <a:r>
              <a:rPr dirty="0" sz="2600" spc="55" i="1">
                <a:latin typeface="Georgia"/>
                <a:cs typeface="Georgia"/>
              </a:rPr>
              <a:t>s</a:t>
            </a:r>
            <a:r>
              <a:rPr dirty="0" sz="2600" spc="-15" i="1">
                <a:latin typeface="Georgia"/>
                <a:cs typeface="Georgia"/>
              </a:rPr>
              <a:t> </a:t>
            </a:r>
            <a:r>
              <a:rPr dirty="0" sz="2600" spc="150">
                <a:latin typeface="Tahoma"/>
                <a:cs typeface="Tahoma"/>
              </a:rPr>
              <a:t>−</a:t>
            </a:r>
            <a:r>
              <a:rPr dirty="0" sz="2600" spc="-204">
                <a:latin typeface="Tahoma"/>
                <a:cs typeface="Tahoma"/>
              </a:rPr>
              <a:t> </a:t>
            </a:r>
            <a:r>
              <a:rPr dirty="0" sz="2600" i="1">
                <a:latin typeface="Georgia"/>
                <a:cs typeface="Georgia"/>
              </a:rPr>
              <a:t>t</a:t>
            </a:r>
            <a:r>
              <a:rPr dirty="0" sz="2600">
                <a:latin typeface="Tahoma"/>
                <a:cs typeface="Tahoma"/>
              </a:rPr>
              <a:t>)(</a:t>
            </a:r>
            <a:r>
              <a:rPr dirty="0" sz="2600" i="1">
                <a:latin typeface="Georgia"/>
                <a:cs typeface="Georgia"/>
              </a:rPr>
              <a:t>s</a:t>
            </a:r>
            <a:r>
              <a:rPr dirty="0" sz="2600" spc="-15" i="1">
                <a:latin typeface="Georgia"/>
                <a:cs typeface="Georgia"/>
              </a:rPr>
              <a:t> </a:t>
            </a:r>
            <a:r>
              <a:rPr dirty="0" sz="2600" spc="150">
                <a:latin typeface="Tahoma"/>
                <a:cs typeface="Tahoma"/>
              </a:rPr>
              <a:t>+</a:t>
            </a:r>
            <a:r>
              <a:rPr dirty="0" sz="2600" spc="-200">
                <a:latin typeface="Tahoma"/>
                <a:cs typeface="Tahoma"/>
              </a:rPr>
              <a:t> </a:t>
            </a:r>
            <a:r>
              <a:rPr dirty="0" sz="2600" spc="-25" i="1">
                <a:latin typeface="Georgia"/>
                <a:cs typeface="Georgia"/>
              </a:rPr>
              <a:t>t</a:t>
            </a:r>
            <a:r>
              <a:rPr dirty="0" sz="2600" spc="-25">
                <a:latin typeface="Tahoma"/>
                <a:cs typeface="Tahoma"/>
              </a:rPr>
              <a:t>)</a:t>
            </a:r>
            <a:endParaRPr sz="26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980"/>
              </a:spcBef>
            </a:pPr>
            <a:r>
              <a:rPr dirty="0" sz="2150" spc="40"/>
              <a:t>Алгоритм:</a:t>
            </a:r>
            <a:endParaRPr sz="2150"/>
          </a:p>
        </p:txBody>
      </p:sp>
      <p:sp>
        <p:nvSpPr>
          <p:cNvPr id="3" name="object 3" descr=""/>
          <p:cNvSpPr txBox="1"/>
          <p:nvPr/>
        </p:nvSpPr>
        <p:spPr>
          <a:xfrm>
            <a:off x="1006475" y="3490421"/>
            <a:ext cx="6647815" cy="1959610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marL="292735" indent="-280035">
              <a:lnSpc>
                <a:spcPct val="100000"/>
              </a:lnSpc>
              <a:spcBef>
                <a:spcPts val="149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Эффективен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когда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делители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близки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baseline="-3205" sz="3900" spc="202">
                <a:solidFill>
                  <a:srgbClr val="333333"/>
                </a:solidFill>
                <a:latin typeface="Tahoma"/>
                <a:cs typeface="Tahoma"/>
              </a:rPr>
              <a:t>√</a:t>
            </a:r>
            <a:r>
              <a:rPr dirty="0" sz="2600" spc="135" i="1">
                <a:solidFill>
                  <a:srgbClr val="333333"/>
                </a:solidFill>
                <a:latin typeface="Georgia"/>
                <a:cs typeface="Georgia"/>
              </a:rPr>
              <a:t>n</a:t>
            </a:r>
            <a:endParaRPr sz="2600">
              <a:latin typeface="Georgia"/>
              <a:cs typeface="Georgia"/>
            </a:endParaRPr>
          </a:p>
          <a:p>
            <a:pPr marL="292735" indent="-280035">
              <a:lnSpc>
                <a:spcPct val="100000"/>
              </a:lnSpc>
              <a:spcBef>
                <a:spcPts val="1155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Прост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реализации</a:t>
            </a:r>
            <a:endParaRPr sz="2150">
              <a:latin typeface="Segoe UI"/>
              <a:cs typeface="Segoe UI"/>
            </a:endParaRPr>
          </a:p>
          <a:p>
            <a:pPr marL="292100" marR="5080" indent="-280035">
              <a:lnSpc>
                <a:spcPct val="125000"/>
              </a:lnSpc>
              <a:spcBef>
                <a:spcPts val="525"/>
              </a:spcBef>
              <a:buAutoNum type="arabicPeriod"/>
              <a:tabLst>
                <a:tab pos="293370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Медленный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чисел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сильно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различающимися 	делителями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400800" y="3762375"/>
            <a:ext cx="200025" cy="9525"/>
          </a:xfrm>
          <a:custGeom>
            <a:avLst/>
            <a:gdLst/>
            <a:ahLst/>
            <a:cxnLst/>
            <a:rect l="l" t="t" r="r" b="b"/>
            <a:pathLst>
              <a:path w="200025" h="9525">
                <a:moveTo>
                  <a:pt x="200025" y="0"/>
                </a:moveTo>
                <a:lnTo>
                  <a:pt x="0" y="0"/>
                </a:lnTo>
                <a:lnTo>
                  <a:pt x="0" y="9525"/>
                </a:lnTo>
                <a:lnTo>
                  <a:pt x="200025" y="9525"/>
                </a:lnTo>
                <a:lnTo>
                  <a:pt x="200025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75" y="0"/>
            <a:ext cx="7324725" cy="7305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52475" y="1924050"/>
          <a:ext cx="7000875" cy="1685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4925"/>
                <a:gridCol w="1476375"/>
                <a:gridCol w="1562100"/>
                <a:gridCol w="2571750"/>
              </a:tblGrid>
              <a:tr h="561975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600" spc="-50" i="1">
                          <a:solidFill>
                            <a:srgbClr val="333333"/>
                          </a:solidFill>
                          <a:latin typeface="Georgia"/>
                          <a:cs typeface="Georgia"/>
                        </a:rPr>
                        <a:t>n</a:t>
                      </a:r>
                      <a:endParaRPr sz="2600">
                        <a:latin typeface="Georgia"/>
                        <a:cs typeface="Georgi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Функция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123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Делитель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123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215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Второй</a:t>
                      </a:r>
                      <a:r>
                        <a:rPr dirty="0" sz="2150" spc="25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делитель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123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1359331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123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600" i="1">
                          <a:solidFill>
                            <a:srgbClr val="333333"/>
                          </a:solidFill>
                          <a:latin typeface="Georgia"/>
                          <a:cs typeface="Georgia"/>
                        </a:rPr>
                        <a:t>x</a:t>
                      </a:r>
                      <a:r>
                        <a:rPr dirty="0" baseline="28528" sz="2775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dirty="0" baseline="28528" sz="2775" spc="270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600" spc="150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2600" spc="-190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600" spc="-50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2150" spc="-2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1181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123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2150" spc="-2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1151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123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10403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123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600" i="1">
                          <a:solidFill>
                            <a:srgbClr val="333333"/>
                          </a:solidFill>
                          <a:latin typeface="Georgia"/>
                          <a:cs typeface="Georgia"/>
                        </a:rPr>
                        <a:t>x</a:t>
                      </a:r>
                      <a:r>
                        <a:rPr dirty="0" baseline="28528" sz="2775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dirty="0" baseline="28528" sz="2775" spc="270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600" spc="150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2600" spc="-190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600" spc="-50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2150" spc="-2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103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123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2150" spc="-2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101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123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52475" y="4552950"/>
          <a:ext cx="5829300" cy="1628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4925"/>
                <a:gridCol w="2085975"/>
                <a:gridCol w="561975"/>
                <a:gridCol w="1790700"/>
              </a:tblGrid>
              <a:tr h="561975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600" spc="-50" i="1">
                          <a:solidFill>
                            <a:srgbClr val="333333"/>
                          </a:solidFill>
                          <a:latin typeface="Georgia"/>
                          <a:cs typeface="Georgia"/>
                        </a:rPr>
                        <a:t>n</a:t>
                      </a:r>
                      <a:endParaRPr sz="2600">
                        <a:latin typeface="Georgia"/>
                        <a:cs typeface="Georgi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15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Найденный</a:t>
                      </a:r>
                      <a:r>
                        <a:rPr dirty="0" sz="2150" spc="85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600" spc="50" i="1">
                          <a:solidFill>
                            <a:srgbClr val="333333"/>
                          </a:solidFill>
                          <a:latin typeface="Georgia"/>
                          <a:cs typeface="Georgia"/>
                        </a:rPr>
                        <a:t>s</a:t>
                      </a:r>
                      <a:endParaRPr sz="2600">
                        <a:latin typeface="Georgia"/>
                        <a:cs typeface="Georgi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600" spc="-50" i="1">
                          <a:solidFill>
                            <a:srgbClr val="333333"/>
                          </a:solidFill>
                          <a:latin typeface="Georgia"/>
                          <a:cs typeface="Georgia"/>
                        </a:rPr>
                        <a:t>t</a:t>
                      </a:r>
                      <a:endParaRPr sz="2600">
                        <a:latin typeface="Georgia"/>
                        <a:cs typeface="Georgi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Делители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123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1359331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1166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15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1151</a:t>
                      </a:r>
                      <a:r>
                        <a:rPr dirty="0" sz="2150" spc="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×</a:t>
                      </a:r>
                      <a:r>
                        <a:rPr dirty="0" sz="2150" spc="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1181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10403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102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101</a:t>
                      </a:r>
                      <a:r>
                        <a:rPr dirty="0" sz="2150" spc="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×</a:t>
                      </a:r>
                      <a:r>
                        <a:rPr dirty="0" sz="2150" spc="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103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012" y="1067339"/>
            <a:ext cx="4316730" cy="5467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65"/>
              <a:t>Пример</a:t>
            </a:r>
            <a:r>
              <a:rPr dirty="0" spc="20"/>
              <a:t> </a:t>
            </a:r>
            <a:r>
              <a:rPr dirty="0" spc="50"/>
              <a:t>работы:</a:t>
            </a:r>
            <a:r>
              <a:rPr dirty="0" spc="15"/>
              <a:t> </a:t>
            </a:r>
            <a:r>
              <a:rPr dirty="0" sz="3400" spc="-10" i="1">
                <a:latin typeface="Georgia"/>
                <a:cs typeface="Georgia"/>
              </a:rPr>
              <a:t>ρ</a:t>
            </a:r>
            <a:r>
              <a:rPr dirty="0" spc="-10"/>
              <a:t>‐метод</a:t>
            </a:r>
            <a:endParaRPr sz="340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5012" y="3847782"/>
            <a:ext cx="5252085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spc="65">
                <a:solidFill>
                  <a:srgbClr val="333333"/>
                </a:solidFill>
                <a:latin typeface="Segoe UI"/>
                <a:cs typeface="Segoe UI"/>
              </a:rPr>
              <a:t>Пример</a:t>
            </a:r>
            <a:r>
              <a:rPr dirty="0" sz="280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50">
                <a:solidFill>
                  <a:srgbClr val="333333"/>
                </a:solidFill>
                <a:latin typeface="Segoe UI"/>
                <a:cs typeface="Segoe UI"/>
              </a:rPr>
              <a:t>работы:</a:t>
            </a:r>
            <a:r>
              <a:rPr dirty="0" sz="2800" spc="1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>
                <a:solidFill>
                  <a:srgbClr val="333333"/>
                </a:solidFill>
                <a:latin typeface="Segoe UI"/>
                <a:cs typeface="Segoe UI"/>
              </a:rPr>
              <a:t>Метод</a:t>
            </a:r>
            <a:r>
              <a:rPr dirty="0" sz="280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65">
                <a:solidFill>
                  <a:srgbClr val="333333"/>
                </a:solidFill>
                <a:latin typeface="Segoe UI"/>
                <a:cs typeface="Segoe UI"/>
              </a:rPr>
              <a:t>Ферма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52475" y="1609725"/>
          <a:ext cx="8334375" cy="2857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3125"/>
                <a:gridCol w="2533650"/>
                <a:gridCol w="3571875"/>
              </a:tblGrid>
              <a:tr h="533400">
                <a:tc>
                  <a:txBody>
                    <a:bodyPr/>
                    <a:lstStyle/>
                    <a:p>
                      <a:pPr marL="62992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Метод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Преимущества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01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Недостатки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marL="123825" marR="767080">
                        <a:lnSpc>
                          <a:spcPts val="3450"/>
                        </a:lnSpc>
                        <a:spcBef>
                          <a:spcPts val="200"/>
                        </a:spcBef>
                      </a:pPr>
                      <a:r>
                        <a:rPr dirty="0" sz="2600" i="1">
                          <a:solidFill>
                            <a:srgbClr val="333333"/>
                          </a:solidFill>
                          <a:latin typeface="Georgia"/>
                          <a:cs typeface="Georgia"/>
                        </a:rPr>
                        <a:t>ρ</a:t>
                      </a:r>
                      <a:r>
                        <a:rPr dirty="0" sz="2600" spc="-140" i="1">
                          <a:solidFill>
                            <a:srgbClr val="333333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‐метод Полларда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2540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marR="252729">
                        <a:lnSpc>
                          <a:spcPct val="125000"/>
                        </a:lnSpc>
                        <a:spcBef>
                          <a:spcPts val="240"/>
                        </a:spcBef>
                      </a:pP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Быстрый</a:t>
                      </a:r>
                      <a:r>
                        <a:rPr dirty="0" sz="2150" spc="7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на </a:t>
                      </a: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малых</a:t>
                      </a:r>
                      <a:r>
                        <a:rPr dirty="0" sz="2150" spc="3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делителях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48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marR="609600">
                        <a:lnSpc>
                          <a:spcPct val="125000"/>
                        </a:lnSpc>
                        <a:spcBef>
                          <a:spcPts val="240"/>
                        </a:spcBef>
                      </a:pP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Может</a:t>
                      </a:r>
                      <a:r>
                        <a:rPr dirty="0" sz="2150" spc="3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не</a:t>
                      </a:r>
                      <a:r>
                        <a:rPr dirty="0" sz="2150" spc="4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сойтись</a:t>
                      </a:r>
                      <a:r>
                        <a:rPr dirty="0" sz="2150" spc="4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для </a:t>
                      </a: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некоторых</a:t>
                      </a:r>
                      <a:r>
                        <a:rPr dirty="0" sz="2150" spc="7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чисел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48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1352550">
                <a:tc>
                  <a:txBody>
                    <a:bodyPr/>
                    <a:lstStyle/>
                    <a:p>
                      <a:pPr marL="123825" marR="711835">
                        <a:lnSpc>
                          <a:spcPct val="125000"/>
                        </a:lnSpc>
                        <a:spcBef>
                          <a:spcPts val="165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Метод квадратов Ферма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 marR="897890">
                        <a:lnSpc>
                          <a:spcPct val="125000"/>
                        </a:lnSpc>
                        <a:spcBef>
                          <a:spcPts val="1739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Простота реализации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220979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 marR="414655">
                        <a:lnSpc>
                          <a:spcPct val="107600"/>
                        </a:lnSpc>
                        <a:spcBef>
                          <a:spcPts val="2190"/>
                        </a:spcBef>
                      </a:pP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Медленный,</a:t>
                      </a:r>
                      <a:r>
                        <a:rPr dirty="0" sz="2150" spc="114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если </a:t>
                      </a: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делители</a:t>
                      </a:r>
                      <a:r>
                        <a:rPr dirty="0" sz="2150" spc="4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далеки</a:t>
                      </a:r>
                      <a:r>
                        <a:rPr dirty="0" sz="2150" spc="4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от</a:t>
                      </a:r>
                      <a:r>
                        <a:rPr dirty="0" sz="2150" spc="4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baseline="-3205" sz="3900" spc="202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√</a:t>
                      </a:r>
                      <a:r>
                        <a:rPr dirty="0" sz="2600" spc="135" i="1">
                          <a:solidFill>
                            <a:srgbClr val="333333"/>
                          </a:solidFill>
                          <a:latin typeface="Georgia"/>
                          <a:cs typeface="Georgia"/>
                        </a:rPr>
                        <a:t>n</a:t>
                      </a:r>
                      <a:endParaRPr sz="2600">
                        <a:latin typeface="Georgia"/>
                        <a:cs typeface="Georgia"/>
                      </a:endParaRPr>
                    </a:p>
                  </a:txBody>
                  <a:tcPr marL="0" marR="0" marB="0" marT="27813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"/>
          <p:cNvSpPr/>
          <p:nvPr/>
        </p:nvSpPr>
        <p:spPr>
          <a:xfrm>
            <a:off x="752475" y="4629150"/>
            <a:ext cx="66675" cy="1781175"/>
          </a:xfrm>
          <a:custGeom>
            <a:avLst/>
            <a:gdLst/>
            <a:ahLst/>
            <a:cxnLst/>
            <a:rect l="l" t="t" r="r" b="b"/>
            <a:pathLst>
              <a:path w="66675" h="1781175">
                <a:moveTo>
                  <a:pt x="66675" y="1781175"/>
                </a:moveTo>
                <a:lnTo>
                  <a:pt x="0" y="1781175"/>
                </a:lnTo>
                <a:lnTo>
                  <a:pt x="0" y="0"/>
                </a:lnTo>
                <a:lnTo>
                  <a:pt x="66675" y="0"/>
                </a:lnTo>
                <a:lnTo>
                  <a:pt x="66675" y="178117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012" y="904557"/>
            <a:ext cx="3977004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50"/>
              <a:t>Сравнительный</a:t>
            </a:r>
            <a:r>
              <a:rPr dirty="0" spc="70"/>
              <a:t> </a:t>
            </a:r>
            <a:r>
              <a:rPr dirty="0" spc="45"/>
              <a:t>анализ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077912" y="4491585"/>
            <a:ext cx="6546850" cy="190309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2400" spc="-10">
                <a:solidFill>
                  <a:srgbClr val="777777"/>
                </a:solidFill>
                <a:latin typeface="Segoe UI"/>
                <a:cs typeface="Segoe UI"/>
              </a:rPr>
              <a:t>Эффективность:</a:t>
            </a:r>
            <a:endParaRPr sz="240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340"/>
              </a:spcBef>
            </a:pPr>
            <a:r>
              <a:rPr dirty="0" sz="2600" i="1">
                <a:solidFill>
                  <a:srgbClr val="777777"/>
                </a:solidFill>
                <a:latin typeface="Georgia"/>
                <a:cs typeface="Georgia"/>
              </a:rPr>
              <a:t>ρ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‐метод</a:t>
            </a:r>
            <a:r>
              <a:rPr dirty="0" sz="2150" spc="15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лучше</a:t>
            </a:r>
            <a:r>
              <a:rPr dirty="0" sz="2150" spc="2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для</a:t>
            </a:r>
            <a:r>
              <a:rPr dirty="0" sz="2150" spc="15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чисел</a:t>
            </a:r>
            <a:r>
              <a:rPr dirty="0" sz="2150" spc="15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с</a:t>
            </a:r>
            <a:r>
              <a:rPr dirty="0" sz="2150" spc="2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небольшими</a:t>
            </a:r>
            <a:r>
              <a:rPr dirty="0" sz="2150" spc="15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777777"/>
                </a:solidFill>
                <a:latin typeface="Segoe UI"/>
                <a:cs typeface="Segoe UI"/>
              </a:rPr>
              <a:t>простыми делителями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Метод</a:t>
            </a:r>
            <a:r>
              <a:rPr dirty="0" sz="2150" spc="45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Ферма</a:t>
            </a:r>
            <a:r>
              <a:rPr dirty="0" sz="2150" spc="50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выигрывает</a:t>
            </a:r>
            <a:r>
              <a:rPr dirty="0" sz="2150" spc="55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777777"/>
                </a:solidFill>
                <a:latin typeface="Segoe UI"/>
                <a:cs typeface="Segoe UI"/>
              </a:rPr>
              <a:t>когда</a:t>
            </a:r>
            <a:r>
              <a:rPr dirty="0" sz="2150" spc="55">
                <a:solidFill>
                  <a:srgbClr val="777777"/>
                </a:solidFill>
                <a:latin typeface="Segoe UI"/>
                <a:cs typeface="Segoe UI"/>
              </a:rPr>
              <a:t> </a:t>
            </a:r>
            <a:r>
              <a:rPr dirty="0" sz="2150" spc="50">
                <a:solidFill>
                  <a:srgbClr val="777777"/>
                </a:solidFill>
                <a:latin typeface="Segoe UI"/>
                <a:cs typeface="Segoe UI"/>
              </a:rPr>
              <a:t>p≈q≈</a:t>
            </a:r>
            <a:r>
              <a:rPr dirty="0" baseline="-3205" sz="3900" spc="75">
                <a:solidFill>
                  <a:srgbClr val="777777"/>
                </a:solidFill>
                <a:latin typeface="Tahoma"/>
                <a:cs typeface="Tahoma"/>
              </a:rPr>
              <a:t>√</a:t>
            </a:r>
            <a:r>
              <a:rPr dirty="0" sz="2600" spc="50" i="1">
                <a:solidFill>
                  <a:srgbClr val="777777"/>
                </a:solidFill>
                <a:latin typeface="Georgia"/>
                <a:cs typeface="Georgia"/>
              </a:rPr>
              <a:t>n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382000" y="3857625"/>
            <a:ext cx="200025" cy="9525"/>
          </a:xfrm>
          <a:custGeom>
            <a:avLst/>
            <a:gdLst/>
            <a:ahLst/>
            <a:cxnLst/>
            <a:rect l="l" t="t" r="r" b="b"/>
            <a:pathLst>
              <a:path w="200025" h="9525">
                <a:moveTo>
                  <a:pt x="200025" y="0"/>
                </a:moveTo>
                <a:lnTo>
                  <a:pt x="0" y="0"/>
                </a:lnTo>
                <a:lnTo>
                  <a:pt x="0" y="9525"/>
                </a:lnTo>
                <a:lnTo>
                  <a:pt x="200025" y="9525"/>
                </a:lnTo>
                <a:lnTo>
                  <a:pt x="200025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248400" y="6067425"/>
            <a:ext cx="200025" cy="9525"/>
          </a:xfrm>
          <a:custGeom>
            <a:avLst/>
            <a:gdLst/>
            <a:ahLst/>
            <a:cxnLst/>
            <a:rect l="l" t="t" r="r" b="b"/>
            <a:pathLst>
              <a:path w="200025" h="9525">
                <a:moveTo>
                  <a:pt x="200025" y="0"/>
                </a:moveTo>
                <a:lnTo>
                  <a:pt x="0" y="0"/>
                </a:lnTo>
                <a:lnTo>
                  <a:pt x="0" y="9525"/>
                </a:lnTo>
                <a:lnTo>
                  <a:pt x="200025" y="9525"/>
                </a:lnTo>
                <a:lnTo>
                  <a:pt x="200025" y="0"/>
                </a:lnTo>
                <a:close/>
              </a:path>
            </a:pathLst>
          </a:custGeom>
          <a:solidFill>
            <a:srgbClr val="77777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80"/>
              <a:t>Выводы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838450"/>
            <a:ext cx="95250" cy="952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620686"/>
            <a:ext cx="7625715" cy="271462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Оба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алгоритма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успешно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реализованы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протестированы</a:t>
            </a:r>
            <a:endParaRPr sz="2150">
              <a:latin typeface="Segoe UI"/>
              <a:cs typeface="Segoe UI"/>
            </a:endParaRPr>
          </a:p>
          <a:p>
            <a:pPr marL="12700" marR="163195">
              <a:lnSpc>
                <a:spcPts val="3450"/>
              </a:lnSpc>
              <a:spcBef>
                <a:spcPts val="560"/>
              </a:spcBef>
            </a:pPr>
            <a:r>
              <a:rPr dirty="0" sz="2600" i="1">
                <a:solidFill>
                  <a:srgbClr val="333333"/>
                </a:solidFill>
                <a:latin typeface="Georgia"/>
                <a:cs typeface="Georgia"/>
              </a:rPr>
              <a:t>ρ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‐метод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Полларда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показал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высокую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скорость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на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числах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с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малыми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делителями</a:t>
            </a:r>
            <a:endParaRPr sz="2150">
              <a:latin typeface="Segoe UI"/>
              <a:cs typeface="Segoe UI"/>
            </a:endParaRPr>
          </a:p>
          <a:p>
            <a:pPr marL="12700" marR="681990">
              <a:lnSpc>
                <a:spcPct val="125000"/>
              </a:lnSpc>
              <a:spcBef>
                <a:spcPts val="26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*Метод</a:t>
            </a:r>
            <a:r>
              <a:rPr dirty="0" sz="21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квадратов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Ферма</a:t>
            </a:r>
            <a:r>
              <a:rPr dirty="0" sz="21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эффективен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когда</a:t>
            </a:r>
            <a:r>
              <a:rPr dirty="0" sz="21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делители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близки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друг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другу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Выбор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алгоритма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зависит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структуры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разлагаемого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числа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750" y="3314700"/>
            <a:ext cx="95250" cy="9525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750" y="4229100"/>
            <a:ext cx="95250" cy="9525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750" y="512445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317240"/>
            <a:ext cx="469519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50">
                <a:solidFill>
                  <a:srgbClr val="224466"/>
                </a:solidFill>
              </a:rPr>
              <a:t>Спасибо</a:t>
            </a:r>
            <a:r>
              <a:rPr dirty="0" sz="3450" spc="15">
                <a:solidFill>
                  <a:srgbClr val="224466"/>
                </a:solidFill>
              </a:rPr>
              <a:t> </a:t>
            </a:r>
            <a:r>
              <a:rPr dirty="0" sz="3450" spc="55">
                <a:solidFill>
                  <a:srgbClr val="224466"/>
                </a:solidFill>
              </a:rPr>
              <a:t>за</a:t>
            </a:r>
            <a:r>
              <a:rPr dirty="0" sz="3450" spc="20">
                <a:solidFill>
                  <a:srgbClr val="224466"/>
                </a:solidFill>
              </a:rPr>
              <a:t> </a:t>
            </a:r>
            <a:r>
              <a:rPr dirty="0" sz="3450" spc="60">
                <a:solidFill>
                  <a:srgbClr val="224466"/>
                </a:solidFill>
              </a:rPr>
              <a:t>внимание!</a:t>
            </a:r>
            <a:endParaRPr sz="3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2025-11-19T05:32:28Z</dcterms:created>
  <dcterms:modified xsi:type="dcterms:W3CDTF">2025-11-19T05:32:28Z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Creator">
    <vt:lpwstr>Chromium</vt:lpwstr>
  </property>
  <property fmtid="{D5CDD505-2E9C-101B-9397-08002B2CF9AE}" pid="4" name="LastSaved">
    <vt:filetime>2025-11-19T00:00:00Z</vt:filetime>
  </property>
  <property fmtid="{D5CDD505-2E9C-101B-9397-08002B2CF9AE}" pid="5" name="Producer">
    <vt:lpwstr>Skia/PDF m52</vt:lpwstr>
  </property>
</Properties>
</file>