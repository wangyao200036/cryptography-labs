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97536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940877"/>
            <a:ext cx="3925570" cy="39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33333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375" y="2314575"/>
            <a:ext cx="758190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231389"/>
            <a:ext cx="633857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75">
                <a:solidFill>
                  <a:srgbClr val="224466"/>
                </a:solidFill>
              </a:rPr>
              <a:t>Шифрование</a:t>
            </a:r>
            <a:r>
              <a:rPr dirty="0" sz="3450" spc="20">
                <a:solidFill>
                  <a:srgbClr val="224466"/>
                </a:solidFill>
              </a:rPr>
              <a:t> </a:t>
            </a:r>
            <a:r>
              <a:rPr dirty="0" sz="3450" spc="55">
                <a:solidFill>
                  <a:srgbClr val="224466"/>
                </a:solidFill>
              </a:rPr>
              <a:t>гаммированием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3142932"/>
            <a:ext cx="4985385" cy="1906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>
                <a:solidFill>
                  <a:srgbClr val="333333"/>
                </a:solidFill>
                <a:latin typeface="Segoe UI"/>
                <a:cs typeface="Segoe UI"/>
              </a:rPr>
              <a:t>Теория,</a:t>
            </a:r>
            <a:r>
              <a:rPr dirty="0" sz="280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60">
                <a:solidFill>
                  <a:srgbClr val="333333"/>
                </a:solidFill>
                <a:latin typeface="Segoe UI"/>
                <a:cs typeface="Segoe UI"/>
              </a:rPr>
              <a:t>реализация</a:t>
            </a:r>
            <a:r>
              <a:rPr dirty="0" sz="280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65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80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800" spc="45">
                <a:solidFill>
                  <a:srgbClr val="333333"/>
                </a:solidFill>
                <a:latin typeface="Segoe UI"/>
                <a:cs typeface="Segoe UI"/>
              </a:rPr>
              <a:t>анализ</a:t>
            </a:r>
            <a:endParaRPr sz="2800">
              <a:latin typeface="Segoe UI"/>
              <a:cs typeface="Segoe UI"/>
            </a:endParaRPr>
          </a:p>
          <a:p>
            <a:pPr marL="12700" marR="2164715">
              <a:lnSpc>
                <a:spcPct val="125000"/>
              </a:lnSpc>
              <a:spcBef>
                <a:spcPts val="17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Студент: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Ван</a:t>
            </a:r>
            <a:r>
              <a:rPr dirty="0" sz="2150" spc="1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Яо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Группа:</a:t>
            </a:r>
            <a:r>
              <a:rPr dirty="0" sz="2150" spc="1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НФИмд‐01‐25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РУДН,</a:t>
            </a:r>
            <a:r>
              <a:rPr dirty="0" sz="2150" spc="1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2025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Содержание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06475" y="2385695"/>
            <a:ext cx="4855845" cy="2911475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292735" indent="-280035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Введение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гаммирование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Математические</a:t>
            </a:r>
            <a:r>
              <a:rPr dirty="0" sz="2150" spc="11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основы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Конечная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гамма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Линейный</a:t>
            </a:r>
            <a:r>
              <a:rPr dirty="0" sz="2150" spc="10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конгруэнтный</a:t>
            </a:r>
            <a:r>
              <a:rPr dirty="0" sz="2150" spc="1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генератор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170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Сравнительный</a:t>
            </a:r>
            <a:r>
              <a:rPr dirty="0" sz="2150" spc="1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анализ</a:t>
            </a:r>
            <a:endParaRPr sz="2150">
              <a:latin typeface="Segoe UI"/>
              <a:cs typeface="Segoe UI"/>
            </a:endParaRPr>
          </a:p>
          <a:p>
            <a:pPr marL="292735" indent="-280035">
              <a:lnSpc>
                <a:spcPct val="100000"/>
              </a:lnSpc>
              <a:spcBef>
                <a:spcPts val="1245"/>
              </a:spcBef>
              <a:buAutoNum type="arabicPeriod"/>
              <a:tabLst>
                <a:tab pos="29273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Заключение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выводы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807402"/>
            <a:ext cx="4130040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35"/>
              <a:t>1.</a:t>
            </a:r>
            <a:r>
              <a:rPr dirty="0" spc="90"/>
              <a:t> </a:t>
            </a:r>
            <a:r>
              <a:rPr dirty="0"/>
              <a:t>Введение</a:t>
            </a:r>
            <a:r>
              <a:rPr dirty="0" spc="95"/>
              <a:t> </a:t>
            </a:r>
            <a:r>
              <a:rPr dirty="0"/>
              <a:t>в</a:t>
            </a:r>
            <a:r>
              <a:rPr dirty="0" spc="95"/>
              <a:t> </a:t>
            </a:r>
            <a:r>
              <a:rPr dirty="0" spc="-10"/>
              <a:t>гаммирование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048000"/>
            <a:ext cx="95250" cy="952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533775"/>
            <a:ext cx="95250" cy="952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4010025"/>
            <a:ext cx="95250" cy="9525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22312" y="1290319"/>
            <a:ext cx="7402195" cy="5161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 marR="513715" indent="187325">
              <a:lnSpc>
                <a:spcPct val="125000"/>
              </a:lnSpc>
              <a:spcBef>
                <a:spcPts val="95"/>
              </a:spcBef>
              <a:buChar char="•"/>
              <a:tabLst>
                <a:tab pos="2127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Определение:</a:t>
            </a:r>
            <a:r>
              <a:rPr dirty="0" sz="2150" spc="1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Наложение</a:t>
            </a:r>
            <a:r>
              <a:rPr dirty="0" sz="2150" spc="1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гаммы</a:t>
            </a:r>
            <a:r>
              <a:rPr dirty="0" sz="21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псевдослучайной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последовательности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на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открытый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текст</a:t>
            </a:r>
            <a:endParaRPr sz="2150">
              <a:latin typeface="Segoe UI"/>
              <a:cs typeface="Segoe UI"/>
            </a:endParaRPr>
          </a:p>
          <a:p>
            <a:pPr marL="212725" indent="-187325">
              <a:lnSpc>
                <a:spcPct val="100000"/>
              </a:lnSpc>
              <a:spcBef>
                <a:spcPts val="1845"/>
              </a:spcBef>
              <a:buChar char="•"/>
              <a:tabLst>
                <a:tab pos="2127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Историческое</a:t>
            </a:r>
            <a:r>
              <a:rPr dirty="0" sz="2150" spc="3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развитие:</a:t>
            </a:r>
            <a:endParaRPr sz="2150">
              <a:latin typeface="Segoe UI"/>
              <a:cs typeface="Segoe UI"/>
            </a:endParaRPr>
          </a:p>
          <a:p>
            <a:pPr marL="577850" marR="287020">
              <a:lnSpc>
                <a:spcPct val="148300"/>
              </a:lnSpc>
              <a:spcBef>
                <a:spcPts val="59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Схема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однократного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использования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one‐time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pad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r>
              <a:rPr dirty="0" sz="2150" spc="-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Гаммирование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конечной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гаммой</a:t>
            </a:r>
            <a:endParaRPr sz="2150">
              <a:latin typeface="Segoe UI"/>
              <a:cs typeface="Segoe UI"/>
            </a:endParaRPr>
          </a:p>
          <a:p>
            <a:pPr marL="577850">
              <a:lnSpc>
                <a:spcPct val="100000"/>
              </a:lnSpc>
              <a:spcBef>
                <a:spcPts val="117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Гаммирование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генератором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ПСП</a:t>
            </a:r>
            <a:endParaRPr sz="2150">
              <a:latin typeface="Segoe UI"/>
              <a:cs typeface="Segoe UI"/>
            </a:endParaRPr>
          </a:p>
          <a:p>
            <a:pPr marL="25400" marR="17780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127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Основное</a:t>
            </a:r>
            <a:r>
              <a:rPr dirty="0" sz="21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преимущество:</a:t>
            </a:r>
            <a:r>
              <a:rPr dirty="0" sz="21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Высокая</a:t>
            </a:r>
            <a:r>
              <a:rPr dirty="0" sz="2150" spc="1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скорость</a:t>
            </a:r>
            <a:r>
              <a:rPr dirty="0" sz="21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1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простота реализации</a:t>
            </a:r>
            <a:endParaRPr sz="2150">
              <a:latin typeface="Segoe UI"/>
              <a:cs typeface="Segoe UI"/>
            </a:endParaRPr>
          </a:p>
          <a:p>
            <a:pPr marL="212725" indent="-187325">
              <a:lnSpc>
                <a:spcPct val="100000"/>
              </a:lnSpc>
              <a:spcBef>
                <a:spcPts val="1845"/>
              </a:spcBef>
              <a:buChar char="•"/>
              <a:tabLst>
                <a:tab pos="212725" algn="l"/>
              </a:tabLst>
            </a:pP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Ключевой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принцип:</a:t>
            </a:r>
            <a:endParaRPr sz="2150">
              <a:latin typeface="Segoe UI"/>
              <a:cs typeface="Segoe UI"/>
            </a:endParaRPr>
          </a:p>
          <a:p>
            <a:pPr marL="3337560">
              <a:lnSpc>
                <a:spcPct val="100000"/>
              </a:lnSpc>
              <a:spcBef>
                <a:spcPts val="2370"/>
              </a:spcBef>
            </a:pPr>
            <a:r>
              <a:rPr dirty="0" sz="2600" spc="50" i="1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r>
              <a:rPr dirty="0" baseline="-12012" sz="2775" spc="75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baseline="-12012" sz="2775" spc="585" i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333333"/>
                </a:solidFill>
                <a:latin typeface="Lucida Sans Unicode"/>
                <a:cs typeface="Lucida Sans Unicode"/>
              </a:rPr>
              <a:t>=</a:t>
            </a:r>
            <a:r>
              <a:rPr dirty="0" sz="2600" spc="-95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0" i="1">
                <a:solidFill>
                  <a:srgbClr val="333333"/>
                </a:solidFill>
                <a:latin typeface="Times New Roman"/>
                <a:cs typeface="Times New Roman"/>
              </a:rPr>
              <a:t>p</a:t>
            </a:r>
            <a:r>
              <a:rPr dirty="0" baseline="-12012" sz="2775" spc="89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baseline="-12012" sz="2775" spc="375" i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2600" spc="-30">
                <a:solidFill>
                  <a:srgbClr val="333333"/>
                </a:solidFill>
                <a:latin typeface="Lucida Sans Unicode"/>
                <a:cs typeface="Lucida Sans Unicode"/>
              </a:rPr>
              <a:t>⊕</a:t>
            </a:r>
            <a:r>
              <a:rPr dirty="0" sz="2600" spc="-240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200" i="1">
                <a:solidFill>
                  <a:srgbClr val="333333"/>
                </a:solidFill>
                <a:latin typeface="Times New Roman"/>
                <a:cs typeface="Times New Roman"/>
              </a:rPr>
              <a:t>γ</a:t>
            </a:r>
            <a:r>
              <a:rPr dirty="0" baseline="-12012" sz="2775" spc="300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endParaRPr baseline="-12012" sz="27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2.</a:t>
            </a:r>
            <a:r>
              <a:rPr dirty="0" spc="215"/>
              <a:t> </a:t>
            </a:r>
            <a:r>
              <a:rPr dirty="0"/>
              <a:t>Математические</a:t>
            </a:r>
            <a:r>
              <a:rPr dirty="0" spc="220"/>
              <a:t> </a:t>
            </a:r>
            <a:r>
              <a:rPr dirty="0" spc="-10"/>
              <a:t>основы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209925"/>
            <a:ext cx="95250" cy="9525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714750"/>
            <a:ext cx="95250" cy="9525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22312" y="2359339"/>
            <a:ext cx="5189220" cy="297624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4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Основные</a:t>
            </a:r>
            <a:r>
              <a:rPr dirty="0" sz="2150" spc="3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операции:</a:t>
            </a:r>
            <a:endParaRPr sz="2150">
              <a:latin typeface="Segoe UI"/>
              <a:cs typeface="Segoe UI"/>
            </a:endParaRPr>
          </a:p>
          <a:p>
            <a:pPr marL="577850" marR="17780">
              <a:lnSpc>
                <a:spcPct val="127400"/>
              </a:lnSpc>
              <a:spcBef>
                <a:spcPts val="540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Шифрование: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50" i="1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r>
              <a:rPr dirty="0" baseline="-12012" sz="2775" spc="75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baseline="-12012" sz="2775" spc="457" i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600" i="1">
                <a:solidFill>
                  <a:srgbClr val="333333"/>
                </a:solidFill>
                <a:latin typeface="Times New Roman"/>
                <a:cs typeface="Times New Roman"/>
              </a:rPr>
              <a:t>p</a:t>
            </a:r>
            <a:r>
              <a:rPr dirty="0" baseline="-12012" sz="2775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baseline="-12012" sz="2775" spc="457" i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+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90" i="1">
                <a:solidFill>
                  <a:srgbClr val="333333"/>
                </a:solidFill>
                <a:latin typeface="Times New Roman"/>
                <a:cs typeface="Times New Roman"/>
              </a:rPr>
              <a:t>γ</a:t>
            </a:r>
            <a:r>
              <a:rPr dirty="0" baseline="-12012" sz="2775" spc="284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sz="2150" spc="19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mod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N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Дешифрование:</a:t>
            </a:r>
            <a:r>
              <a:rPr dirty="0" sz="2150" spc="3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60" i="1">
                <a:solidFill>
                  <a:srgbClr val="333333"/>
                </a:solidFill>
                <a:latin typeface="Times New Roman"/>
                <a:cs typeface="Times New Roman"/>
              </a:rPr>
              <a:t>p</a:t>
            </a:r>
            <a:r>
              <a:rPr dirty="0" baseline="-12012" sz="2775" spc="89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baseline="-12012" sz="2775" spc="450" i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600" i="1">
                <a:solidFill>
                  <a:srgbClr val="333333"/>
                </a:solidFill>
                <a:latin typeface="Times New Roman"/>
                <a:cs typeface="Times New Roman"/>
              </a:rPr>
              <a:t>c</a:t>
            </a:r>
            <a:r>
              <a:rPr dirty="0" baseline="-12012" sz="2775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baseline="-12012" sz="2775" spc="450" i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‐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190" i="1">
                <a:solidFill>
                  <a:srgbClr val="333333"/>
                </a:solidFill>
                <a:latin typeface="Times New Roman"/>
                <a:cs typeface="Times New Roman"/>
              </a:rPr>
              <a:t>γ</a:t>
            </a:r>
            <a:r>
              <a:rPr dirty="0" baseline="-12012" sz="2775" spc="284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sz="2150" spc="19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r>
              <a:rPr dirty="0" sz="215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mod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N</a:t>
            </a:r>
            <a:endParaRPr sz="2150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  <a:spcBef>
                <a:spcPts val="1980"/>
              </a:spcBef>
            </a:pP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Алфавитное</a:t>
            </a:r>
            <a:r>
              <a:rPr dirty="0" sz="2150" spc="3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кодирование:</a:t>
            </a:r>
            <a:endParaRPr sz="2150">
              <a:latin typeface="Segoe UI"/>
              <a:cs typeface="Segoe UI"/>
            </a:endParaRPr>
          </a:p>
          <a:p>
            <a:pPr marL="25400" marR="184150">
              <a:lnSpc>
                <a:spcPct val="1250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 =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1,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б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2,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3,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...,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я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32,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пробел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1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0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Модуль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N</a:t>
            </a:r>
            <a:r>
              <a:rPr dirty="0" sz="2150" spc="2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33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31127"/>
            <a:ext cx="4537075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3.</a:t>
            </a:r>
            <a:r>
              <a:rPr dirty="0" spc="160"/>
              <a:t> </a:t>
            </a:r>
            <a:r>
              <a:rPr dirty="0"/>
              <a:t>Реализация</a:t>
            </a:r>
            <a:r>
              <a:rPr dirty="0" spc="165"/>
              <a:t> </a:t>
            </a:r>
            <a:r>
              <a:rPr dirty="0"/>
              <a:t>конечной</a:t>
            </a:r>
            <a:r>
              <a:rPr dirty="0" spc="160"/>
              <a:t> </a:t>
            </a:r>
            <a:r>
              <a:rPr dirty="0" spc="-10"/>
              <a:t>гаммы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914" y="800472"/>
            <a:ext cx="7044967" cy="6151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960052"/>
            <a:ext cx="5503545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60"/>
              <a:t>4.</a:t>
            </a:r>
            <a:r>
              <a:rPr dirty="0" spc="229"/>
              <a:t> </a:t>
            </a:r>
            <a:r>
              <a:rPr dirty="0"/>
              <a:t>Линейный</a:t>
            </a:r>
            <a:r>
              <a:rPr dirty="0" spc="229"/>
              <a:t> </a:t>
            </a:r>
            <a:r>
              <a:rPr dirty="0"/>
              <a:t>конгруэнтный</a:t>
            </a:r>
            <a:r>
              <a:rPr dirty="0" spc="229"/>
              <a:t> </a:t>
            </a:r>
            <a:r>
              <a:rPr dirty="0" spc="-10"/>
              <a:t>генератор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2312" y="3504465"/>
            <a:ext cx="3221990" cy="7950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54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Математическая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модель:</a:t>
            </a:r>
            <a:endParaRPr sz="2150">
              <a:latin typeface="Segoe UI"/>
              <a:cs typeface="Segoe UI"/>
            </a:endParaRPr>
          </a:p>
          <a:p>
            <a:pPr marL="25400">
              <a:lnSpc>
                <a:spcPct val="100000"/>
              </a:lnSpc>
              <a:spcBef>
                <a:spcPts val="195"/>
              </a:spcBef>
            </a:pPr>
            <a:r>
              <a:rPr dirty="0" sz="2600" spc="225" i="1">
                <a:solidFill>
                  <a:srgbClr val="333333"/>
                </a:solidFill>
                <a:latin typeface="Times New Roman"/>
                <a:cs typeface="Times New Roman"/>
              </a:rPr>
              <a:t>γ</a:t>
            </a:r>
            <a:r>
              <a:rPr dirty="0" baseline="-12012" sz="2775" spc="337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baseline="-12012" sz="2775" spc="405" i="1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=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﴾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a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600" spc="-445">
                <a:solidFill>
                  <a:srgbClr val="333333"/>
                </a:solidFill>
                <a:latin typeface="Lucida Sans Unicode"/>
                <a:cs typeface="Lucida Sans Unicode"/>
              </a:rPr>
              <a:t>⋅</a:t>
            </a:r>
            <a:r>
              <a:rPr dirty="0" sz="2600" spc="-225">
                <a:solidFill>
                  <a:srgbClr val="333333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0" i="1">
                <a:solidFill>
                  <a:srgbClr val="333333"/>
                </a:solidFill>
                <a:latin typeface="Times New Roman"/>
                <a:cs typeface="Times New Roman"/>
              </a:rPr>
              <a:t>γ</a:t>
            </a:r>
            <a:r>
              <a:rPr dirty="0" baseline="-12012" sz="2775" spc="75" i="1">
                <a:solidFill>
                  <a:srgbClr val="333333"/>
                </a:solidFill>
                <a:latin typeface="Times New Roman"/>
                <a:cs typeface="Times New Roman"/>
              </a:rPr>
              <a:t>i</a:t>
            </a:r>
            <a:r>
              <a:rPr dirty="0" baseline="-12012" sz="2775" spc="75">
                <a:solidFill>
                  <a:srgbClr val="333333"/>
                </a:solidFill>
                <a:latin typeface="Lucida Sans Unicode"/>
                <a:cs typeface="Lucida Sans Unicode"/>
              </a:rPr>
              <a:t>−1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+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b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﴿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mod</a:t>
            </a:r>
            <a:r>
              <a:rPr dirty="0" sz="2150" spc="1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50">
                <a:solidFill>
                  <a:srgbClr val="333333"/>
                </a:solidFill>
                <a:latin typeface="Segoe UI"/>
                <a:cs typeface="Segoe UI"/>
              </a:rPr>
              <a:t>m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25425"/>
            <a:ext cx="3332479" cy="35687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/>
              <a:t>Реализация</a:t>
            </a:r>
            <a:r>
              <a:rPr dirty="0" sz="2150" spc="65"/>
              <a:t> </a:t>
            </a:r>
            <a:r>
              <a:rPr dirty="0" sz="2150" spc="-10"/>
              <a:t>LCGGenerator:</a:t>
            </a:r>
            <a:endParaRPr sz="21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75" y="609600"/>
            <a:ext cx="8258175" cy="61193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52475" y="2314575"/>
          <a:ext cx="758190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/>
                <a:gridCol w="2476500"/>
                <a:gridCol w="1666875"/>
              </a:tblGrid>
              <a:tr h="533400">
                <a:tc>
                  <a:txBody>
                    <a:bodyPr/>
                    <a:lstStyle/>
                    <a:p>
                      <a:pPr marL="100203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Параметр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Конечная</a:t>
                      </a:r>
                      <a:r>
                        <a:rPr dirty="0" sz="2150" spc="35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гамма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LCG</a:t>
                      </a:r>
                      <a:r>
                        <a:rPr dirty="0" sz="2150" spc="-8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20" b="1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гамма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Безопасность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Низкая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Средняя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Простота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Высокая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Средняя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Периодичность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Короткая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Длинная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Реализация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Простая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Сложная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Ключевое</a:t>
                      </a:r>
                      <a:r>
                        <a:rPr dirty="0" sz="2150" spc="6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пространство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Ограниченное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2150" spc="-10">
                          <a:solidFill>
                            <a:srgbClr val="333333"/>
                          </a:solidFill>
                          <a:latin typeface="Segoe UI"/>
                          <a:cs typeface="Segoe UI"/>
                        </a:rPr>
                        <a:t>Большое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B="0" marT="10287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778952"/>
            <a:ext cx="4992370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5.</a:t>
            </a:r>
            <a:r>
              <a:rPr dirty="0" spc="210"/>
              <a:t> </a:t>
            </a:r>
            <a:r>
              <a:rPr dirty="0"/>
              <a:t>Сравнительный</a:t>
            </a:r>
            <a:r>
              <a:rPr dirty="0" spc="210"/>
              <a:t> </a:t>
            </a:r>
            <a:r>
              <a:rPr dirty="0"/>
              <a:t>анализ</a:t>
            </a:r>
            <a:r>
              <a:rPr dirty="0" spc="210"/>
              <a:t> </a:t>
            </a:r>
            <a:r>
              <a:rPr dirty="0" spc="-10"/>
              <a:t>методов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474027"/>
            <a:ext cx="3631565" cy="390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6.</a:t>
            </a:r>
            <a:r>
              <a:rPr dirty="0" spc="150"/>
              <a:t> </a:t>
            </a:r>
            <a:r>
              <a:rPr dirty="0"/>
              <a:t>Заключение</a:t>
            </a:r>
            <a:r>
              <a:rPr dirty="0" spc="150"/>
              <a:t> </a:t>
            </a:r>
            <a:r>
              <a:rPr dirty="0"/>
              <a:t>и</a:t>
            </a:r>
            <a:r>
              <a:rPr dirty="0" spc="150"/>
              <a:t> </a:t>
            </a:r>
            <a:r>
              <a:rPr dirty="0" spc="45"/>
              <a:t>выводы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956944"/>
            <a:ext cx="8161655" cy="5854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46710">
              <a:lnSpc>
                <a:spcPct val="125000"/>
              </a:lnSpc>
              <a:spcBef>
                <a:spcPts val="95"/>
              </a:spcBef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Теоретическая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ценность: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Понимание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принципов</a:t>
            </a:r>
            <a:r>
              <a:rPr dirty="0" sz="2150" spc="8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потокового шифрования</a:t>
            </a:r>
            <a:endParaRPr sz="2150">
              <a:latin typeface="Segoe UI"/>
              <a:cs typeface="Segoe UI"/>
            </a:endParaRPr>
          </a:p>
          <a:p>
            <a:pPr marL="12700" marR="5080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Практическая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значимость: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Основа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для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изучения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современных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потоковых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шифров</a:t>
            </a:r>
            <a:endParaRPr sz="2150">
              <a:latin typeface="Segoe UI"/>
              <a:cs typeface="Segoe UI"/>
            </a:endParaRPr>
          </a:p>
          <a:p>
            <a:pPr marL="200025" indent="-187325">
              <a:lnSpc>
                <a:spcPct val="100000"/>
              </a:lnSpc>
              <a:spcBef>
                <a:spcPts val="1845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Образовательные</a:t>
            </a:r>
            <a:r>
              <a:rPr dirty="0" sz="2150" spc="7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результаты:</a:t>
            </a:r>
            <a:endParaRPr sz="2150">
              <a:latin typeface="Segoe UI"/>
              <a:cs typeface="Segoe UI"/>
            </a:endParaRPr>
          </a:p>
          <a:p>
            <a:pPr marL="12700" marR="2498090">
              <a:lnSpc>
                <a:spcPct val="171500"/>
              </a:lnSpc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Реализация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двух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подходов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</a:t>
            </a:r>
            <a:r>
              <a:rPr dirty="0" sz="215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гаммированию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Сравнительный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анализ</a:t>
            </a:r>
            <a:r>
              <a:rPr dirty="0" sz="2150" spc="7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методов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  Понимание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ограничений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и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уязвимостей</a:t>
            </a:r>
            <a:endParaRPr sz="2150">
              <a:latin typeface="Segoe UI"/>
              <a:cs typeface="Segoe UI"/>
            </a:endParaRPr>
          </a:p>
          <a:p>
            <a:pPr marL="12700" marR="1071880" indent="187325">
              <a:lnSpc>
                <a:spcPct val="125000"/>
              </a:lnSpc>
              <a:spcBef>
                <a:spcPts val="1200"/>
              </a:spcBef>
              <a:buChar char="•"/>
              <a:tabLst>
                <a:tab pos="200025" algn="l"/>
              </a:tabLst>
            </a:pP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Вывод: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Гаммирование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остается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важным</a:t>
            </a:r>
            <a:r>
              <a:rPr dirty="0" sz="2150" spc="5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классом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криптографических</a:t>
            </a:r>
            <a:r>
              <a:rPr dirty="0" sz="2150" spc="8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алгоритмов,</a:t>
            </a:r>
            <a:r>
              <a:rPr dirty="0" sz="2150" spc="9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сочетающим</a:t>
            </a:r>
            <a:r>
              <a:rPr dirty="0" sz="2150" spc="9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простоту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реализации</a:t>
            </a:r>
            <a:r>
              <a:rPr dirty="0" sz="2150" spc="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потенциально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высокой</a:t>
            </a:r>
            <a:r>
              <a:rPr dirty="0" sz="2150" spc="6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стойкостью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25">
                <a:solidFill>
                  <a:srgbClr val="333333"/>
                </a:solidFill>
                <a:latin typeface="Segoe UI"/>
                <a:cs typeface="Segoe UI"/>
              </a:rPr>
              <a:t>при </a:t>
            </a:r>
            <a:r>
              <a:rPr dirty="0" sz="2150">
                <a:solidFill>
                  <a:srgbClr val="333333"/>
                </a:solidFill>
                <a:latin typeface="Segoe UI"/>
                <a:cs typeface="Segoe UI"/>
              </a:rPr>
              <a:t>правильном</a:t>
            </a:r>
            <a:r>
              <a:rPr dirty="0" sz="2150" spc="6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2150" spc="-10">
                <a:solidFill>
                  <a:srgbClr val="333333"/>
                </a:solidFill>
                <a:latin typeface="Segoe UI"/>
                <a:cs typeface="Segoe UI"/>
              </a:rPr>
              <a:t>использовании.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317240"/>
            <a:ext cx="4695190" cy="5562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50" spc="50">
                <a:solidFill>
                  <a:srgbClr val="224466"/>
                </a:solidFill>
              </a:rPr>
              <a:t>Спасибо</a:t>
            </a:r>
            <a:r>
              <a:rPr dirty="0" sz="3450" spc="15">
                <a:solidFill>
                  <a:srgbClr val="224466"/>
                </a:solidFill>
              </a:rPr>
              <a:t> </a:t>
            </a:r>
            <a:r>
              <a:rPr dirty="0" sz="3450" spc="55">
                <a:solidFill>
                  <a:srgbClr val="224466"/>
                </a:solidFill>
              </a:rPr>
              <a:t>за</a:t>
            </a:r>
            <a:r>
              <a:rPr dirty="0" sz="3450" spc="20">
                <a:solidFill>
                  <a:srgbClr val="224466"/>
                </a:solidFill>
              </a:rPr>
              <a:t> </a:t>
            </a:r>
            <a:r>
              <a:rPr dirty="0" sz="3450" spc="60">
                <a:solidFill>
                  <a:srgbClr val="224466"/>
                </a:solidFill>
              </a:rPr>
              <a:t>внимание!</a:t>
            </a:r>
            <a:endParaRPr sz="3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2025-11-09T14:52:34Z</dcterms:created>
  <dcterms:modified xsi:type="dcterms:W3CDTF">2025-11-09T14:52:34Z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Chromium</vt:lpwstr>
  </property>
  <property fmtid="{D5CDD505-2E9C-101B-9397-08002B2CF9AE}" pid="4" name="LastSaved">
    <vt:filetime>2025-11-09T00:00:00Z</vt:filetime>
  </property>
  <property fmtid="{D5CDD505-2E9C-101B-9397-08002B2CF9AE}" pid="5" name="Producer">
    <vt:lpwstr>Skia/PDF m52</vt:lpwstr>
  </property>
</Properties>
</file>