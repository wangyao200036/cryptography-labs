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664652"/>
            <a:ext cx="2402840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2571750"/>
            <a:ext cx="6772275" cy="269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31389"/>
            <a:ext cx="519430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114">
                <a:solidFill>
                  <a:srgbClr val="224466"/>
                </a:solidFill>
              </a:rPr>
              <a:t>Шифры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45">
                <a:solidFill>
                  <a:srgbClr val="224466"/>
                </a:solidFill>
              </a:rPr>
              <a:t>простой</a:t>
            </a:r>
            <a:r>
              <a:rPr dirty="0" sz="3450" spc="25">
                <a:solidFill>
                  <a:srgbClr val="224466"/>
                </a:solidFill>
              </a:rPr>
              <a:t> </a:t>
            </a:r>
            <a:r>
              <a:rPr dirty="0" sz="3450" spc="70">
                <a:solidFill>
                  <a:srgbClr val="224466"/>
                </a:solidFill>
              </a:rPr>
              <a:t>замены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142932"/>
            <a:ext cx="4985385" cy="190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Теория,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0">
                <a:solidFill>
                  <a:srgbClr val="333333"/>
                </a:solidFill>
                <a:latin typeface="Segoe UI"/>
                <a:cs typeface="Segoe UI"/>
              </a:rPr>
              <a:t>реализация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45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800">
              <a:latin typeface="Segoe UI"/>
              <a:cs typeface="Segoe UI"/>
            </a:endParaRPr>
          </a:p>
          <a:p>
            <a:pPr marL="12700" marR="2164715">
              <a:lnSpc>
                <a:spcPct val="125000"/>
              </a:lnSpc>
              <a:spcBef>
                <a:spcPts val="17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Студент: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Яо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Группа: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НФИмд‐01‐25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РУДН,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2025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78977"/>
            <a:ext cx="1831339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Содержание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06475" y="2385695"/>
            <a:ext cx="3865879" cy="291147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Введение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шифры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замены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Цезаря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Атбаш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Криптоанализ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уязвимости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Заключение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выводы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0402"/>
            <a:ext cx="426085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1.</a:t>
            </a:r>
            <a:r>
              <a:rPr dirty="0" spc="70"/>
              <a:t> </a:t>
            </a:r>
            <a:r>
              <a:rPr dirty="0"/>
              <a:t>Введение</a:t>
            </a:r>
            <a:r>
              <a:rPr dirty="0" spc="70"/>
              <a:t> </a:t>
            </a:r>
            <a:r>
              <a:rPr dirty="0"/>
              <a:t>в</a:t>
            </a:r>
            <a:r>
              <a:rPr dirty="0" spc="75"/>
              <a:t> </a:t>
            </a:r>
            <a:r>
              <a:rPr dirty="0" spc="55"/>
              <a:t>шифры</a:t>
            </a:r>
            <a:r>
              <a:rPr dirty="0" spc="70"/>
              <a:t> </a:t>
            </a:r>
            <a:r>
              <a:rPr dirty="0" spc="-10"/>
              <a:t>замены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433320"/>
            <a:ext cx="7983855" cy="2892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9845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простой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замены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замена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символов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открытого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текста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символы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шифроалфавита</a:t>
            </a:r>
            <a:endParaRPr sz="2150">
              <a:latin typeface="Segoe UI"/>
              <a:cs typeface="Segoe UI"/>
            </a:endParaRPr>
          </a:p>
          <a:p>
            <a:pPr marL="12700" marR="5080" indent="187325">
              <a:lnSpc>
                <a:spcPct val="125000"/>
              </a:lnSpc>
              <a:buChar char="•"/>
              <a:tabLst>
                <a:tab pos="200025" algn="l"/>
              </a:tabLst>
            </a:pP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Моноалфавитная</a:t>
            </a:r>
            <a:r>
              <a:rPr dirty="0" sz="2150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подстановка</a:t>
            </a:r>
            <a:r>
              <a:rPr dirty="0" sz="21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каждый</a:t>
            </a:r>
            <a:r>
              <a:rPr dirty="0" sz="21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заменяется фиксированно</a:t>
            </a:r>
            <a:endParaRPr sz="2150">
              <a:latin typeface="Segoe UI"/>
              <a:cs typeface="Segoe UI"/>
            </a:endParaRPr>
          </a:p>
          <a:p>
            <a:pPr marL="12700" marR="310515" indent="187325">
              <a:lnSpc>
                <a:spcPct val="125000"/>
              </a:lnSpc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Историческое</a:t>
            </a:r>
            <a:r>
              <a:rPr dirty="0" sz="21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значение:</a:t>
            </a:r>
            <a:r>
              <a:rPr dirty="0" sz="2150" spc="2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древнейшие</a:t>
            </a:r>
            <a:r>
              <a:rPr dirty="0" sz="2150" spc="2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криптографические методы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64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Применение: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образовательные</a:t>
            </a:r>
            <a:r>
              <a:rPr dirty="0" sz="21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цели,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основы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криптографии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2.</a:t>
            </a:r>
            <a:r>
              <a:rPr dirty="0" spc="125"/>
              <a:t> </a:t>
            </a:r>
            <a:r>
              <a:rPr dirty="0"/>
              <a:t>Шифр</a:t>
            </a:r>
            <a:r>
              <a:rPr dirty="0" spc="130"/>
              <a:t> </a:t>
            </a:r>
            <a:r>
              <a:rPr dirty="0" spc="-10"/>
              <a:t>Цезаря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2312" y="2128520"/>
            <a:ext cx="7434580" cy="350202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12725" indent="-187325">
              <a:lnSpc>
                <a:spcPct val="100000"/>
              </a:lnSpc>
              <a:spcBef>
                <a:spcPts val="740"/>
              </a:spcBef>
              <a:buChar char="•"/>
              <a:tabLst>
                <a:tab pos="2127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История: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использовался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Юлием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Цезарем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I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веке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до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н.э.</a:t>
            </a:r>
            <a:endParaRPr sz="2150">
              <a:latin typeface="Segoe UI"/>
              <a:cs typeface="Segoe UI"/>
            </a:endParaRPr>
          </a:p>
          <a:p>
            <a:pPr marL="212725" indent="-187325">
              <a:lnSpc>
                <a:spcPct val="100000"/>
              </a:lnSpc>
              <a:spcBef>
                <a:spcPts val="645"/>
              </a:spcBef>
              <a:buChar char="•"/>
              <a:tabLst>
                <a:tab pos="212725" algn="l"/>
              </a:tabLst>
            </a:pP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Математическая</a:t>
            </a:r>
            <a:r>
              <a:rPr dirty="0" sz="2150" spc="4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модель:</a:t>
            </a:r>
            <a:endParaRPr sz="2150">
              <a:latin typeface="Segoe UI"/>
              <a:cs typeface="Segoe UI"/>
            </a:endParaRPr>
          </a:p>
          <a:p>
            <a:pPr marL="2566035">
              <a:lnSpc>
                <a:spcPct val="100000"/>
              </a:lnSpc>
              <a:spcBef>
                <a:spcPts val="2370"/>
              </a:spcBef>
            </a:pPr>
            <a:r>
              <a:rPr dirty="0" sz="2600" spc="-90" i="1">
                <a:solidFill>
                  <a:srgbClr val="333333"/>
                </a:solidFill>
                <a:latin typeface="Georgia"/>
                <a:cs typeface="Georgia"/>
              </a:rPr>
              <a:t>T</a:t>
            </a:r>
            <a:r>
              <a:rPr dirty="0" sz="2600" spc="-265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baseline="31531" sz="2775" spc="330" i="1">
                <a:solidFill>
                  <a:srgbClr val="333333"/>
                </a:solidFill>
                <a:latin typeface="Georgia"/>
                <a:cs typeface="Georgia"/>
              </a:rPr>
              <a:t>j</a:t>
            </a:r>
            <a:r>
              <a:rPr dirty="0" baseline="31531" sz="2775" spc="-322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a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7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=</a:t>
            </a:r>
            <a:r>
              <a:rPr dirty="0" sz="2600" spc="-12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a</a:t>
            </a:r>
            <a:r>
              <a:rPr dirty="0" sz="2600" spc="-70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+</a:t>
            </a:r>
            <a:r>
              <a:rPr dirty="0" sz="2600" spc="-229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-10" i="1">
                <a:solidFill>
                  <a:srgbClr val="333333"/>
                </a:solidFill>
                <a:latin typeface="Georgia"/>
                <a:cs typeface="Georgia"/>
              </a:rPr>
              <a:t>j</a:t>
            </a:r>
            <a:r>
              <a:rPr dirty="0" sz="2600" spc="-1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0" i="1">
                <a:solidFill>
                  <a:srgbClr val="333333"/>
                </a:solidFill>
                <a:latin typeface="Georgia"/>
                <a:cs typeface="Georgia"/>
              </a:rPr>
              <a:t>modm</a:t>
            </a:r>
            <a:endParaRPr sz="2600">
              <a:latin typeface="Georgia"/>
              <a:cs typeface="Georgia"/>
            </a:endParaRPr>
          </a:p>
          <a:p>
            <a:pPr marL="212725" indent="-187325">
              <a:lnSpc>
                <a:spcPct val="100000"/>
              </a:lnSpc>
              <a:spcBef>
                <a:spcPts val="2505"/>
              </a:spcBef>
              <a:buChar char="•"/>
              <a:tabLst>
                <a:tab pos="212725" algn="l"/>
              </a:tabLst>
            </a:pP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Ключ: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величина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сдвига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270" i="1">
                <a:solidFill>
                  <a:srgbClr val="333333"/>
                </a:solidFill>
                <a:latin typeface="Georgia"/>
                <a:cs typeface="Georgia"/>
              </a:rPr>
              <a:t>j</a:t>
            </a:r>
            <a:endParaRPr sz="2600">
              <a:latin typeface="Georgia"/>
              <a:cs typeface="Georgia"/>
            </a:endParaRPr>
          </a:p>
          <a:p>
            <a:pPr marL="212725" indent="-187325">
              <a:lnSpc>
                <a:spcPct val="100000"/>
              </a:lnSpc>
              <a:spcBef>
                <a:spcPts val="780"/>
              </a:spcBef>
              <a:buChar char="•"/>
              <a:tabLst>
                <a:tab pos="212725" algn="l"/>
              </a:tabLst>
            </a:pP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Пример:</a:t>
            </a:r>
            <a:endParaRPr sz="2150">
              <a:latin typeface="Segoe UI"/>
              <a:cs typeface="Segoe UI"/>
            </a:endParaRPr>
          </a:p>
          <a:p>
            <a:pPr marL="25400" marR="2922905">
              <a:lnSpc>
                <a:spcPct val="1250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Исходный: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"VENI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VIDI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VICI"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Зашифрованный: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"YHQL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YLGL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YLFL"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3.</a:t>
            </a:r>
            <a:r>
              <a:rPr dirty="0" spc="125"/>
              <a:t> </a:t>
            </a:r>
            <a:r>
              <a:rPr dirty="0"/>
              <a:t>Шифр</a:t>
            </a:r>
            <a:r>
              <a:rPr dirty="0" spc="130"/>
              <a:t> </a:t>
            </a:r>
            <a:r>
              <a:rPr dirty="0" spc="-10"/>
              <a:t>Атбаша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147570"/>
            <a:ext cx="6419215" cy="347345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740"/>
              </a:spcBef>
              <a:buChar char="•"/>
              <a:tabLst>
                <a:tab pos="200025" algn="l"/>
              </a:tabLst>
            </a:pP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Принцип: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зеркальное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отображение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алфавита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645"/>
              </a:spcBef>
              <a:buChar char="•"/>
              <a:tabLst>
                <a:tab pos="200025" algn="l"/>
              </a:tabLst>
            </a:pP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Математическая</a:t>
            </a:r>
            <a:r>
              <a:rPr dirty="0" sz="2150" spc="4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модель:</a:t>
            </a:r>
            <a:endParaRPr sz="2150">
              <a:latin typeface="Segoe UI"/>
              <a:cs typeface="Segoe UI"/>
            </a:endParaRPr>
          </a:p>
          <a:p>
            <a:pPr marL="2721610">
              <a:lnSpc>
                <a:spcPct val="100000"/>
              </a:lnSpc>
              <a:spcBef>
                <a:spcPts val="2370"/>
              </a:spcBef>
            </a:pPr>
            <a:r>
              <a:rPr dirty="0" sz="2600" spc="-90" i="1">
                <a:solidFill>
                  <a:srgbClr val="333333"/>
                </a:solidFill>
                <a:latin typeface="Georgia"/>
                <a:cs typeface="Georgia"/>
              </a:rPr>
              <a:t>T</a:t>
            </a:r>
            <a:r>
              <a:rPr dirty="0" sz="2600" spc="-265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a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9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=</a:t>
            </a:r>
            <a:r>
              <a:rPr dirty="0" sz="2600" spc="-9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i="1">
                <a:solidFill>
                  <a:srgbClr val="333333"/>
                </a:solidFill>
                <a:latin typeface="Georgia"/>
                <a:cs typeface="Georgia"/>
              </a:rPr>
              <a:t>m</a:t>
            </a:r>
            <a:r>
              <a:rPr dirty="0" sz="2600" spc="-45" i="1">
                <a:solidFill>
                  <a:srgbClr val="333333"/>
                </a:solidFill>
                <a:latin typeface="Georgia"/>
                <a:cs typeface="Georgi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−</a:t>
            </a:r>
            <a:r>
              <a:rPr dirty="0" sz="2600" spc="-229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-120">
                <a:solidFill>
                  <a:srgbClr val="333333"/>
                </a:solidFill>
                <a:latin typeface="Tahoma"/>
                <a:cs typeface="Tahoma"/>
              </a:rPr>
              <a:t>1</a:t>
            </a:r>
            <a:r>
              <a:rPr dirty="0" sz="2600" spc="-229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−</a:t>
            </a:r>
            <a:r>
              <a:rPr dirty="0" sz="2600" spc="-229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-25" i="1">
                <a:solidFill>
                  <a:srgbClr val="333333"/>
                </a:solidFill>
                <a:latin typeface="Georgia"/>
                <a:cs typeface="Georgia"/>
              </a:rPr>
              <a:t>a</a:t>
            </a:r>
            <a:r>
              <a:rPr dirty="0" sz="2600" spc="-25">
                <a:solidFill>
                  <a:srgbClr val="333333"/>
                </a:solidFill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 marL="12700" marR="5080" indent="187325">
              <a:lnSpc>
                <a:spcPct val="125000"/>
              </a:lnSpc>
              <a:spcBef>
                <a:spcPts val="231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Особенность:</a:t>
            </a:r>
            <a:r>
              <a:rPr dirty="0" sz="21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отсутствие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ключа,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фиксированное преобразование</a:t>
            </a:r>
            <a:endParaRPr sz="2150">
              <a:latin typeface="Segoe UI"/>
              <a:cs typeface="Segoe UI"/>
            </a:endParaRPr>
          </a:p>
          <a:p>
            <a:pPr marL="12700" marR="2042160" indent="187325">
              <a:lnSpc>
                <a:spcPct val="125000"/>
              </a:lnSpc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Пример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1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русского</a:t>
            </a:r>
            <a:r>
              <a:rPr dirty="0" sz="2150" spc="1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алфавита: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я,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ю,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э,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...,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я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а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78902"/>
            <a:ext cx="440245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60"/>
              <a:t>4.</a:t>
            </a:r>
            <a:r>
              <a:rPr dirty="0" spc="114"/>
              <a:t> </a:t>
            </a:r>
            <a:r>
              <a:rPr dirty="0"/>
              <a:t>Криптоанализ</a:t>
            </a:r>
            <a:r>
              <a:rPr dirty="0" spc="114"/>
              <a:t> </a:t>
            </a:r>
            <a:r>
              <a:rPr dirty="0"/>
              <a:t>и</a:t>
            </a:r>
            <a:r>
              <a:rPr dirty="0" spc="114"/>
              <a:t> </a:t>
            </a:r>
            <a:r>
              <a:rPr dirty="0" spc="-10"/>
              <a:t>уязвимости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647950"/>
            <a:ext cx="95250" cy="952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124200"/>
            <a:ext cx="95250" cy="952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609975"/>
            <a:ext cx="95250" cy="952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733925"/>
            <a:ext cx="95250" cy="9525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210175"/>
            <a:ext cx="95250" cy="9525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686425"/>
            <a:ext cx="95250" cy="9525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35012" y="1939925"/>
            <a:ext cx="6806565" cy="39573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Уязвимости</a:t>
            </a:r>
            <a:r>
              <a:rPr dirty="0" sz="21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шифра</a:t>
            </a:r>
            <a:r>
              <a:rPr dirty="0" sz="21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Цезаря:</a:t>
            </a:r>
            <a:endParaRPr sz="2150">
              <a:latin typeface="Segoe UI"/>
              <a:cs typeface="Segoe UI"/>
            </a:endParaRPr>
          </a:p>
          <a:p>
            <a:pPr marL="565150" marR="5080">
              <a:lnSpc>
                <a:spcPct val="146800"/>
              </a:lnSpc>
              <a:spcBef>
                <a:spcPts val="63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Малое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пространство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ключей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m‐1</a:t>
            </a:r>
            <a:r>
              <a:rPr dirty="0" sz="215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dirty="0" sz="2150" spc="-425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вариантов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Сохранение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частотных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характеристик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Уязвимость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частотному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анализу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Уязвимости</a:t>
            </a:r>
            <a:r>
              <a:rPr dirty="0" sz="21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шифра</a:t>
            </a:r>
            <a:r>
              <a:rPr dirty="0" sz="21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Атбаша:</a:t>
            </a:r>
            <a:endParaRPr sz="2150">
              <a:latin typeface="Segoe UI"/>
              <a:cs typeface="Segoe UI"/>
            </a:endParaRPr>
          </a:p>
          <a:p>
            <a:pPr marL="565150" marR="3553460">
              <a:lnSpc>
                <a:spcPct val="145300"/>
              </a:lnSpc>
              <a:spcBef>
                <a:spcPts val="67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Отсутствие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ключа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Самодвойственность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Уязвимость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частотному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анализу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2571750"/>
          <a:ext cx="6772275" cy="269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0"/>
                <a:gridCol w="1352550"/>
                <a:gridCol w="2000250"/>
              </a:tblGrid>
              <a:tr h="533400">
                <a:tc>
                  <a:txBody>
                    <a:bodyPr/>
                    <a:lstStyle/>
                    <a:p>
                      <a:pPr marL="99250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Параметр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Цезарь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Атбаш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Пространство</a:t>
                      </a:r>
                      <a:r>
                        <a:rPr dirty="0" sz="2150" spc="6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ключей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2600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m</a:t>
                      </a:r>
                      <a:r>
                        <a:rPr dirty="0" sz="2600" spc="-35" i="1">
                          <a:solidFill>
                            <a:srgbClr val="333333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2600" spc="1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−</a:t>
                      </a:r>
                      <a:r>
                        <a:rPr dirty="0" sz="2600" spc="-22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600" spc="-50">
                          <a:solidFill>
                            <a:srgbClr val="333333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123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Сложность</a:t>
                      </a:r>
                      <a:r>
                        <a:rPr dirty="0" sz="2150" spc="5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взлома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Низкая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Очень</a:t>
                      </a:r>
                      <a:r>
                        <a:rPr dirty="0" sz="2150" spc="4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низкая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Гибкость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Есть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Нет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Историческое</a:t>
                      </a:r>
                      <a:r>
                        <a:rPr dirty="0" sz="2150" spc="1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значение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Высокое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Среднее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2036127"/>
            <a:ext cx="3694429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5.</a:t>
            </a:r>
            <a:r>
              <a:rPr dirty="0" spc="225"/>
              <a:t> </a:t>
            </a:r>
            <a:r>
              <a:rPr dirty="0"/>
              <a:t>Сравнительный</a:t>
            </a:r>
            <a:r>
              <a:rPr dirty="0" spc="229"/>
              <a:t> </a:t>
            </a:r>
            <a:r>
              <a:rPr dirty="0" spc="-10"/>
              <a:t>анализ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64602"/>
            <a:ext cx="363156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6.</a:t>
            </a:r>
            <a:r>
              <a:rPr dirty="0" spc="150"/>
              <a:t> </a:t>
            </a:r>
            <a:r>
              <a:rPr dirty="0"/>
              <a:t>Заключение</a:t>
            </a:r>
            <a:r>
              <a:rPr dirty="0" spc="150"/>
              <a:t> </a:t>
            </a:r>
            <a:r>
              <a:rPr dirty="0"/>
              <a:t>и</a:t>
            </a:r>
            <a:r>
              <a:rPr dirty="0" spc="150"/>
              <a:t> </a:t>
            </a:r>
            <a:r>
              <a:rPr dirty="0" spc="45"/>
              <a:t>выводы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1747520"/>
            <a:ext cx="7897495" cy="427355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74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Теоретическая</a:t>
            </a:r>
            <a:r>
              <a:rPr dirty="0" sz="215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ценность:</a:t>
            </a:r>
            <a:r>
              <a:rPr dirty="0" sz="21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изучение</a:t>
            </a:r>
            <a:r>
              <a:rPr dirty="0" sz="21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</a:t>
            </a:r>
            <a:r>
              <a:rPr dirty="0" sz="21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криптографии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645"/>
              </a:spcBef>
              <a:buChar char="•"/>
              <a:tabLst>
                <a:tab pos="200025" algn="l"/>
              </a:tabLst>
            </a:pP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Практическая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значимость:</a:t>
            </a:r>
            <a:r>
              <a:rPr dirty="0" sz="2150" spc="1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образовательные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цели</a:t>
            </a:r>
            <a:endParaRPr sz="2150">
              <a:latin typeface="Segoe UI"/>
              <a:cs typeface="Segoe UI"/>
            </a:endParaRPr>
          </a:p>
          <a:p>
            <a:pPr marL="12700" marR="1153795" indent="187325">
              <a:lnSpc>
                <a:spcPct val="125000"/>
              </a:lnSpc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Криптостойкость: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низкая,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пригодны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защиты информации</a:t>
            </a:r>
            <a:endParaRPr sz="2150">
              <a:latin typeface="Segoe UI"/>
              <a:cs typeface="Segoe UI"/>
            </a:endParaRPr>
          </a:p>
          <a:p>
            <a:pPr marL="12700" marR="5080" indent="187325">
              <a:lnSpc>
                <a:spcPct val="125000"/>
              </a:lnSpc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Рекомендации: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использовать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только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обучения</a:t>
            </a:r>
            <a:r>
              <a:rPr dirty="0" sz="21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основам криптографии</a:t>
            </a:r>
            <a:endParaRPr sz="2150">
              <a:latin typeface="Segoe UI"/>
              <a:cs typeface="Segoe UI"/>
            </a:endParaRPr>
          </a:p>
          <a:p>
            <a:pPr marL="12700" marR="11430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Вывод: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Шифры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простой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замены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служат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отличным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инструментом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понимания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базовых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принципов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криптографии,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но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абсолютно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пригодны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современных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требований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информационной</a:t>
            </a:r>
            <a:r>
              <a:rPr dirty="0" sz="215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безопасности.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317240"/>
            <a:ext cx="46951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Спасибо</a:t>
            </a:r>
            <a:r>
              <a:rPr dirty="0" sz="3450" spc="15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за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60">
                <a:solidFill>
                  <a:srgbClr val="224466"/>
                </a:solidFill>
              </a:rPr>
              <a:t>внимание!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2025-11-09T11:47:14Z</dcterms:created>
  <dcterms:modified xsi:type="dcterms:W3CDTF">2025-11-09T11:47:14Z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2025-11-09T00:00:00Z</vt:filetime>
  </property>
  <property fmtid="{D5CDD505-2E9C-101B-9397-08002B2CF9AE}" pid="5" name="Producer">
    <vt:lpwstr>Skia/PDF m52</vt:lpwstr>
  </property>
</Properties>
</file>