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276032"/>
            <a:ext cx="5614670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2714307"/>
            <a:ext cx="7933055" cy="276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02764"/>
            <a:ext cx="545528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0">
                <a:solidFill>
                  <a:srgbClr val="224466"/>
                </a:solidFill>
              </a:rPr>
              <a:t>Лабораторная</a:t>
            </a:r>
            <a:r>
              <a:rPr dirty="0" sz="3450" spc="135">
                <a:solidFill>
                  <a:srgbClr val="224466"/>
                </a:solidFill>
              </a:rPr>
              <a:t> </a:t>
            </a:r>
            <a:r>
              <a:rPr dirty="0" sz="3450">
                <a:solidFill>
                  <a:srgbClr val="224466"/>
                </a:solidFill>
              </a:rPr>
              <a:t>работа</a:t>
            </a:r>
            <a:r>
              <a:rPr dirty="0" sz="3450" spc="150">
                <a:solidFill>
                  <a:srgbClr val="224466"/>
                </a:solidFill>
              </a:rPr>
              <a:t> </a:t>
            </a:r>
            <a:r>
              <a:rPr dirty="0" sz="3450" spc="80">
                <a:solidFill>
                  <a:srgbClr val="224466"/>
                </a:solidFill>
              </a:rPr>
              <a:t>№5</a:t>
            </a:r>
            <a:endParaRPr sz="345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100"/>
              </a:spcBef>
            </a:pPr>
            <a:r>
              <a:rPr dirty="0" sz="2800" spc="55"/>
              <a:t>Вероятностные</a:t>
            </a:r>
            <a:r>
              <a:rPr dirty="0" sz="2800" spc="40"/>
              <a:t> </a:t>
            </a:r>
            <a:r>
              <a:rPr dirty="0" sz="2800" spc="65"/>
              <a:t>алгоритмы</a:t>
            </a:r>
            <a:r>
              <a:rPr dirty="0" sz="2800" spc="40"/>
              <a:t> </a:t>
            </a:r>
            <a:r>
              <a:rPr dirty="0" sz="2800" spc="50"/>
              <a:t>проверки</a:t>
            </a:r>
            <a:r>
              <a:rPr dirty="0" sz="2800" spc="40"/>
              <a:t> </a:t>
            </a:r>
            <a:r>
              <a:rPr dirty="0" sz="2800" spc="55"/>
              <a:t>чисел</a:t>
            </a:r>
            <a:r>
              <a:rPr dirty="0" sz="2800" spc="45"/>
              <a:t> </a:t>
            </a:r>
            <a:r>
              <a:rPr dirty="0" sz="2800" spc="-25"/>
              <a:t>на </a:t>
            </a:r>
            <a:r>
              <a:rPr dirty="0" sz="2800" spc="35"/>
              <a:t>простоту</a:t>
            </a:r>
            <a:endParaRPr sz="2800"/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800"/>
          </a:p>
          <a:p>
            <a:pPr marL="12700" marR="5112385">
              <a:lnSpc>
                <a:spcPct val="125000"/>
              </a:lnSpc>
            </a:pPr>
            <a:r>
              <a:rPr dirty="0"/>
              <a:t>Студент:</a:t>
            </a:r>
            <a:r>
              <a:rPr dirty="0" spc="145"/>
              <a:t> </a:t>
            </a:r>
            <a:r>
              <a:rPr dirty="0"/>
              <a:t>Ван</a:t>
            </a:r>
            <a:r>
              <a:rPr dirty="0" spc="145"/>
              <a:t> </a:t>
            </a:r>
            <a:r>
              <a:rPr dirty="0" spc="-25"/>
              <a:t>Яо </a:t>
            </a:r>
            <a:r>
              <a:rPr dirty="0"/>
              <a:t>Группа:</a:t>
            </a:r>
            <a:r>
              <a:rPr dirty="0" spc="165"/>
              <a:t> </a:t>
            </a:r>
            <a:r>
              <a:rPr dirty="0" spc="-10"/>
              <a:t>НФИмд‐01‐25 </a:t>
            </a:r>
            <a:r>
              <a:rPr dirty="0"/>
              <a:t>РУДН,</a:t>
            </a:r>
            <a:r>
              <a:rPr dirty="0" spc="155"/>
              <a:t> </a:t>
            </a:r>
            <a:r>
              <a:rPr dirty="0" spc="-2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75"/>
              <a:t>Цель</a:t>
            </a:r>
            <a:r>
              <a:rPr dirty="0" spc="15"/>
              <a:t> </a:t>
            </a:r>
            <a:r>
              <a:rPr dirty="0" spc="40"/>
              <a:t>работы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3700462"/>
            <a:ext cx="104775" cy="1047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4176712"/>
            <a:ext cx="104775" cy="1047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4652962"/>
            <a:ext cx="104775" cy="10477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06475" y="2185670"/>
            <a:ext cx="7869555" cy="3578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2100" marR="5080" indent="-280035">
              <a:lnSpc>
                <a:spcPct val="125000"/>
              </a:lnSpc>
              <a:spcBef>
                <a:spcPts val="95"/>
              </a:spcBef>
              <a:buAutoNum type="arabicPeriod"/>
              <a:tabLst>
                <a:tab pos="29337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Изучить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теоретические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основы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вероятностных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алгоритмов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проверки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чисел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простоту</a:t>
            </a:r>
            <a:endParaRPr sz="2150">
              <a:latin typeface="Segoe UI"/>
              <a:cs typeface="Segoe UI"/>
            </a:endParaRPr>
          </a:p>
          <a:p>
            <a:pPr marL="292100" marR="3033395" indent="-280035">
              <a:lnSpc>
                <a:spcPct val="125000"/>
              </a:lnSpc>
              <a:spcBef>
                <a:spcPts val="525"/>
              </a:spcBef>
              <a:buAutoNum type="arabicPeriod"/>
              <a:tabLst>
                <a:tab pos="845819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Реализовать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программно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три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теста: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Тест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Ферма</a:t>
            </a:r>
            <a:endParaRPr sz="2150">
              <a:latin typeface="Segoe UI"/>
              <a:cs typeface="Segoe UI"/>
            </a:endParaRPr>
          </a:p>
          <a:p>
            <a:pPr marL="845819" marR="3839845">
              <a:lnSpc>
                <a:spcPct val="1453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Тест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Соловэя–Штрассена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Тест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Миллера–Рабина</a:t>
            </a:r>
            <a:endParaRPr sz="2150">
              <a:latin typeface="Segoe UI"/>
              <a:cs typeface="Segoe UI"/>
            </a:endParaRPr>
          </a:p>
          <a:p>
            <a:pPr marL="292100" marR="697230" indent="-280035">
              <a:lnSpc>
                <a:spcPct val="125000"/>
              </a:lnSpc>
              <a:spcBef>
                <a:spcPts val="600"/>
              </a:spcBef>
              <a:buAutoNum type="arabicPeriod" startAt="3"/>
              <a:tabLst>
                <a:tab pos="29337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Провести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сравнительный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их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эффективности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и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точности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71357"/>
            <a:ext cx="325882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0"/>
              <a:t>Основные</a:t>
            </a:r>
            <a:r>
              <a:rPr dirty="0" spc="40"/>
              <a:t> </a:t>
            </a:r>
            <a:r>
              <a:rPr dirty="0" spc="50"/>
              <a:t>понятия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847975"/>
            <a:ext cx="95250" cy="952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547620"/>
            <a:ext cx="7620634" cy="2768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Простое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число: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имеет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ровно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два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делителя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—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само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себя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Составное</a:t>
            </a:r>
            <a:r>
              <a:rPr dirty="0" sz="2150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число:</a:t>
            </a:r>
            <a:r>
              <a:rPr dirty="0" sz="2150" spc="1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имеет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более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двух</a:t>
            </a:r>
            <a:r>
              <a:rPr dirty="0" sz="2150" spc="1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делителей</a:t>
            </a:r>
            <a:endParaRPr sz="2150">
              <a:latin typeface="Segoe UI"/>
              <a:cs typeface="Segoe UI"/>
            </a:endParaRPr>
          </a:p>
          <a:p>
            <a:pPr marL="12700" marR="402590">
              <a:lnSpc>
                <a:spcPct val="125000"/>
              </a:lnSpc>
              <a:spcBef>
                <a:spcPts val="525"/>
              </a:spcBef>
            </a:pP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Вероятностный</a:t>
            </a:r>
            <a:r>
              <a:rPr dirty="0" sz="2150" spc="1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алгоритм: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использует</a:t>
            </a:r>
            <a:r>
              <a:rPr dirty="0" sz="2150" spc="1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случайность,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даёт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ответ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некоторой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вероятностью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ошибки</a:t>
            </a:r>
            <a:endParaRPr sz="2150">
              <a:latin typeface="Segoe UI"/>
              <a:cs typeface="Segoe UI"/>
            </a:endParaRPr>
          </a:p>
          <a:p>
            <a:pPr marL="12700" marR="552450">
              <a:lnSpc>
                <a:spcPct val="125000"/>
              </a:lnSpc>
              <a:spcBef>
                <a:spcPts val="525"/>
              </a:spcBef>
            </a:pP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Детерминированный</a:t>
            </a:r>
            <a:r>
              <a:rPr dirty="0" sz="21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алгоритм: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всегда</a:t>
            </a:r>
            <a:r>
              <a:rPr dirty="0" sz="21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выдаёт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точный результат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333750"/>
            <a:ext cx="95250" cy="952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810000"/>
            <a:ext cx="95250" cy="952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695825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Тест</a:t>
            </a:r>
            <a:r>
              <a:rPr dirty="0" spc="-50"/>
              <a:t> </a:t>
            </a:r>
            <a:r>
              <a:rPr dirty="0" spc="55"/>
              <a:t>Ферма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044700"/>
            <a:ext cx="3992879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Основа: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Малая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теорема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Ферма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519" y="2757817"/>
            <a:ext cx="7643749" cy="41193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5012" y="3454714"/>
            <a:ext cx="4991100" cy="250190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Алгоритм:</a:t>
            </a:r>
            <a:endParaRPr sz="2150">
              <a:latin typeface="Segoe UI"/>
              <a:cs typeface="Segoe UI"/>
            </a:endParaRPr>
          </a:p>
          <a:p>
            <a:pPr marL="563880" indent="-280035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5638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Выбрать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случайное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i="1">
                <a:solidFill>
                  <a:srgbClr val="333333"/>
                </a:solidFill>
                <a:latin typeface="Trebuchet MS"/>
                <a:cs typeface="Trebuchet MS"/>
              </a:rPr>
              <a:t>a</a:t>
            </a:r>
            <a:r>
              <a:rPr dirty="0" sz="2600" spc="-3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310">
                <a:solidFill>
                  <a:srgbClr val="333333"/>
                </a:solidFill>
                <a:latin typeface="Lucida Sans Unicode"/>
                <a:cs typeface="Lucida Sans Unicode"/>
              </a:rPr>
              <a:t>∈</a:t>
            </a:r>
            <a:r>
              <a:rPr dirty="0" sz="2600" spc="-6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0">
                <a:solidFill>
                  <a:srgbClr val="333333"/>
                </a:solidFill>
                <a:latin typeface="Lucida Sans Unicode"/>
                <a:cs typeface="Lucida Sans Unicode"/>
              </a:rPr>
              <a:t>[2,</a:t>
            </a:r>
            <a:r>
              <a:rPr dirty="0" sz="2600" spc="-37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18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30">
                <a:solidFill>
                  <a:srgbClr val="333333"/>
                </a:solidFill>
                <a:latin typeface="Lucida Sans Unicode"/>
                <a:cs typeface="Lucida Sans Unicode"/>
              </a:rPr>
              <a:t>−</a:t>
            </a:r>
            <a:r>
              <a:rPr dirty="0" sz="2600" spc="-21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30">
                <a:solidFill>
                  <a:srgbClr val="333333"/>
                </a:solidFill>
                <a:latin typeface="Lucida Sans Unicode"/>
                <a:cs typeface="Lucida Sans Unicode"/>
              </a:rPr>
              <a:t>2]</a:t>
            </a:r>
            <a:endParaRPr sz="2600">
              <a:latin typeface="Lucida Sans Unicode"/>
              <a:cs typeface="Lucida Sans Unicode"/>
            </a:endParaRPr>
          </a:p>
          <a:p>
            <a:pPr marL="563880" indent="-280035">
              <a:lnSpc>
                <a:spcPct val="100000"/>
              </a:lnSpc>
              <a:spcBef>
                <a:spcPts val="1380"/>
              </a:spcBef>
              <a:buAutoNum type="arabicPeriod"/>
              <a:tabLst>
                <a:tab pos="5638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Вычислить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r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a^{n‐1}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\bmod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n</a:t>
            </a:r>
            <a:endParaRPr sz="2150">
              <a:latin typeface="Segoe UI"/>
              <a:cs typeface="Segoe UI"/>
            </a:endParaRPr>
          </a:p>
          <a:p>
            <a:pPr marL="563880" marR="592455" indent="-280035">
              <a:lnSpc>
                <a:spcPct val="110600"/>
              </a:lnSpc>
              <a:spcBef>
                <a:spcPts val="390"/>
              </a:spcBef>
              <a:buAutoNum type="arabicPeriod"/>
              <a:tabLst>
                <a:tab pos="56515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Если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95" i="1">
                <a:solidFill>
                  <a:srgbClr val="333333"/>
                </a:solidFill>
                <a:latin typeface="Trebuchet MS"/>
                <a:cs typeface="Trebuchet MS"/>
              </a:rPr>
              <a:t>r</a:t>
            </a:r>
            <a:r>
              <a:rPr dirty="0" sz="2600" spc="2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333333"/>
                </a:solidFill>
                <a:latin typeface="Lucida Sans Unicode"/>
                <a:cs typeface="Lucida Sans Unicode"/>
              </a:rPr>
              <a:t>≠</a:t>
            </a:r>
            <a:r>
              <a:rPr dirty="0" sz="2600" spc="-8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22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18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составное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Иначе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8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вероятно</a:t>
            </a:r>
            <a:r>
              <a:rPr dirty="0" sz="2150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простое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809307"/>
            <a:ext cx="422783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Тест</a:t>
            </a:r>
            <a:r>
              <a:rPr dirty="0" spc="-50"/>
              <a:t> </a:t>
            </a:r>
            <a:r>
              <a:rPr dirty="0" spc="35"/>
              <a:t>Соловэя–Штрассена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1549400"/>
            <a:ext cx="548322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Основа: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Критерий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Эйлера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+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символ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Якоби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27" y="2316347"/>
            <a:ext cx="7866953" cy="138648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5012" y="3892864"/>
            <a:ext cx="4919345" cy="156654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Алгоритм:</a:t>
            </a:r>
            <a:endParaRPr sz="2150">
              <a:latin typeface="Segoe UI"/>
              <a:cs typeface="Segoe UI"/>
            </a:endParaRPr>
          </a:p>
          <a:p>
            <a:pPr marL="563880" indent="-280035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5638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Выбрать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случайное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-50" i="1">
                <a:solidFill>
                  <a:srgbClr val="333333"/>
                </a:solidFill>
                <a:latin typeface="Trebuchet MS"/>
                <a:cs typeface="Trebuchet MS"/>
              </a:rPr>
              <a:t>a</a:t>
            </a:r>
            <a:endParaRPr sz="2600">
              <a:latin typeface="Trebuchet MS"/>
              <a:cs typeface="Trebuchet MS"/>
            </a:endParaRPr>
          </a:p>
          <a:p>
            <a:pPr marL="563880" indent="-280035">
              <a:lnSpc>
                <a:spcPct val="100000"/>
              </a:lnSpc>
              <a:spcBef>
                <a:spcPts val="1305"/>
              </a:spcBef>
              <a:buAutoNum type="arabicPeriod"/>
              <a:tabLst>
                <a:tab pos="5638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Вычислить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r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a^{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n‐1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/2}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\bmod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n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06475" y="5735065"/>
            <a:ext cx="5813425" cy="7264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1273810">
              <a:lnSpc>
                <a:spcPct val="100000"/>
              </a:lnSpc>
              <a:spcBef>
                <a:spcPts val="90"/>
              </a:spcBef>
            </a:pPr>
            <a:r>
              <a:rPr dirty="0" sz="1850" spc="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4.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Если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r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\not\equiv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s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\pmod{n}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17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составное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81075" y="5520467"/>
            <a:ext cx="478853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3.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Вычислить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символ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Якоби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75" i="1">
                <a:solidFill>
                  <a:srgbClr val="333333"/>
                </a:solidFill>
                <a:latin typeface="Trebuchet MS"/>
                <a:cs typeface="Trebuchet MS"/>
              </a:rPr>
              <a:t>s</a:t>
            </a:r>
            <a:r>
              <a:rPr dirty="0" sz="2600" spc="-4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333333"/>
                </a:solidFill>
                <a:latin typeface="Lucida Sans Unicode"/>
                <a:cs typeface="Lucida Sans Unicode"/>
              </a:rPr>
              <a:t>=</a:t>
            </a:r>
            <a:r>
              <a:rPr dirty="0" sz="2600" spc="-8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333"/>
                </a:solidFill>
                <a:latin typeface="Verdana"/>
                <a:cs typeface="Verdana"/>
              </a:rPr>
              <a:t>(</a:t>
            </a:r>
            <a:r>
              <a:rPr dirty="0" sz="2600" spc="-5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u="sng" baseline="31531" sz="2775" spc="-15" i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Trebuchet MS"/>
                <a:cs typeface="Trebuchet MS"/>
              </a:rPr>
              <a:t>a</a:t>
            </a:r>
            <a:r>
              <a:rPr dirty="0" baseline="31531" sz="2775" spc="-254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50">
                <a:solidFill>
                  <a:srgbClr val="333333"/>
                </a:solidFill>
                <a:latin typeface="Verdana"/>
                <a:cs typeface="Verdana"/>
              </a:rPr>
              <a:t>)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847407"/>
            <a:ext cx="373951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Тест</a:t>
            </a:r>
            <a:r>
              <a:rPr dirty="0" spc="-50"/>
              <a:t> </a:t>
            </a:r>
            <a:r>
              <a:rPr dirty="0" spc="35"/>
              <a:t>Миллера–Рабина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5214937"/>
            <a:ext cx="104775" cy="1047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5719762"/>
            <a:ext cx="104775" cy="10477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22312" y="1499869"/>
            <a:ext cx="8107045" cy="4923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 marR="17780">
              <a:lnSpc>
                <a:spcPct val="125000"/>
              </a:lnSpc>
              <a:spcBef>
                <a:spcPts val="9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Наиболее</a:t>
            </a:r>
            <a:r>
              <a:rPr dirty="0" sz="2150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популярный</a:t>
            </a:r>
            <a:r>
              <a:rPr dirty="0" sz="2150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практике</a:t>
            </a:r>
            <a:r>
              <a:rPr dirty="0" sz="2150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используется</a:t>
            </a:r>
            <a:r>
              <a:rPr dirty="0" sz="21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RSA,</a:t>
            </a:r>
            <a:r>
              <a:rPr dirty="0" sz="21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TLS</a:t>
            </a:r>
            <a:r>
              <a:rPr dirty="0" sz="2150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и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др.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endParaRPr sz="215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1845"/>
              </a:spcBef>
            </a:pP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Алгоритм:</a:t>
            </a:r>
            <a:endParaRPr sz="2150">
              <a:latin typeface="Segoe UI"/>
              <a:cs typeface="Segoe UI"/>
            </a:endParaRPr>
          </a:p>
          <a:p>
            <a:pPr marL="576580" indent="-280035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5765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Записать</a:t>
            </a:r>
            <a:r>
              <a:rPr dirty="0" sz="215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20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30">
                <a:solidFill>
                  <a:srgbClr val="333333"/>
                </a:solidFill>
                <a:latin typeface="Lucida Sans Unicode"/>
                <a:cs typeface="Lucida Sans Unicode"/>
              </a:rPr>
              <a:t>−</a:t>
            </a:r>
            <a:r>
              <a:rPr dirty="0" sz="2600" spc="-24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9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333"/>
                </a:solidFill>
                <a:latin typeface="Lucida Sans Unicode"/>
                <a:cs typeface="Lucida Sans Unicode"/>
              </a:rPr>
              <a:t>=</a:t>
            </a:r>
            <a:r>
              <a:rPr dirty="0" sz="2600" spc="-11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333"/>
                </a:solidFill>
                <a:latin typeface="Lucida Sans Unicode"/>
                <a:cs typeface="Lucida Sans Unicode"/>
              </a:rPr>
              <a:t>2</a:t>
            </a:r>
            <a:r>
              <a:rPr dirty="0" baseline="28528" sz="2775" i="1">
                <a:solidFill>
                  <a:srgbClr val="333333"/>
                </a:solidFill>
                <a:latin typeface="Trebuchet MS"/>
                <a:cs typeface="Trebuchet MS"/>
              </a:rPr>
              <a:t>s</a:t>
            </a:r>
            <a:r>
              <a:rPr dirty="0" baseline="28528" sz="2775" spc="209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445">
                <a:solidFill>
                  <a:srgbClr val="333333"/>
                </a:solidFill>
                <a:latin typeface="Lucida Sans Unicode"/>
                <a:cs typeface="Lucida Sans Unicode"/>
              </a:rPr>
              <a:t>⋅</a:t>
            </a:r>
            <a:r>
              <a:rPr dirty="0" sz="2600" spc="-24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5" i="1">
                <a:solidFill>
                  <a:srgbClr val="333333"/>
                </a:solidFill>
                <a:latin typeface="Trebuchet MS"/>
                <a:cs typeface="Trebuchet MS"/>
              </a:rPr>
              <a:t>r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dirty="0" sz="215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где</a:t>
            </a:r>
            <a:r>
              <a:rPr dirty="0" sz="215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95" i="1">
                <a:solidFill>
                  <a:srgbClr val="333333"/>
                </a:solidFill>
                <a:latin typeface="Trebuchet MS"/>
                <a:cs typeface="Trebuchet MS"/>
              </a:rPr>
              <a:t>r</a:t>
            </a:r>
            <a:r>
              <a:rPr dirty="0" sz="2600" spc="-13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—</a:t>
            </a:r>
            <a:r>
              <a:rPr dirty="0" sz="215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нечётное</a:t>
            </a:r>
            <a:endParaRPr sz="2150">
              <a:latin typeface="Segoe UI"/>
              <a:cs typeface="Segoe UI"/>
            </a:endParaRPr>
          </a:p>
          <a:p>
            <a:pPr marL="576580" indent="-280035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5765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случайного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i="1">
                <a:solidFill>
                  <a:srgbClr val="333333"/>
                </a:solidFill>
                <a:latin typeface="Trebuchet MS"/>
                <a:cs typeface="Trebuchet MS"/>
              </a:rPr>
              <a:t>a</a:t>
            </a:r>
            <a:r>
              <a:rPr dirty="0" sz="2600" spc="-16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вычислить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y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a^r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\bmod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n</a:t>
            </a:r>
            <a:endParaRPr sz="2150">
              <a:latin typeface="Segoe UI"/>
              <a:cs typeface="Segoe UI"/>
            </a:endParaRPr>
          </a:p>
          <a:p>
            <a:pPr marL="576580" indent="-280035">
              <a:lnSpc>
                <a:spcPct val="100000"/>
              </a:lnSpc>
              <a:spcBef>
                <a:spcPts val="930"/>
              </a:spcBef>
              <a:buAutoNum type="arabicPeriod"/>
              <a:tabLst>
                <a:tab pos="5765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Если </a:t>
            </a:r>
            <a:r>
              <a:rPr dirty="0" sz="2600" i="1">
                <a:solidFill>
                  <a:srgbClr val="333333"/>
                </a:solidFill>
                <a:latin typeface="Trebuchet MS"/>
                <a:cs typeface="Trebuchet MS"/>
              </a:rPr>
              <a:t>y</a:t>
            </a:r>
            <a:r>
              <a:rPr dirty="0" sz="2600" spc="4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333333"/>
                </a:solidFill>
                <a:latin typeface="Lucida Sans Unicode"/>
                <a:cs typeface="Lucida Sans Unicode"/>
              </a:rPr>
              <a:t>=</a:t>
            </a:r>
            <a:r>
              <a:rPr dirty="0" sz="2600" spc="-9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22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или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i="1">
                <a:solidFill>
                  <a:srgbClr val="333333"/>
                </a:solidFill>
                <a:latin typeface="Trebuchet MS"/>
                <a:cs typeface="Trebuchet MS"/>
              </a:rPr>
              <a:t>y</a:t>
            </a:r>
            <a:r>
              <a:rPr dirty="0" sz="2600" spc="4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333333"/>
                </a:solidFill>
                <a:latin typeface="Lucida Sans Unicode"/>
                <a:cs typeface="Lucida Sans Unicode"/>
              </a:rPr>
              <a:t>=</a:t>
            </a:r>
            <a:r>
              <a:rPr dirty="0" sz="2600" spc="-9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19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30">
                <a:solidFill>
                  <a:srgbClr val="333333"/>
                </a:solidFill>
                <a:latin typeface="Lucida Sans Unicode"/>
                <a:cs typeface="Lucida Sans Unicode"/>
              </a:rPr>
              <a:t>−</a:t>
            </a:r>
            <a:r>
              <a:rPr dirty="0" sz="2600" spc="-23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22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проходит</a:t>
            </a:r>
            <a:endParaRPr sz="2150">
              <a:latin typeface="Segoe UI"/>
              <a:cs typeface="Segoe UI"/>
            </a:endParaRPr>
          </a:p>
          <a:p>
            <a:pPr marL="576580" marR="2001520" indent="-280035">
              <a:lnSpc>
                <a:spcPct val="119000"/>
              </a:lnSpc>
              <a:spcBef>
                <a:spcPts val="260"/>
              </a:spcBef>
              <a:buAutoNum type="arabicPeriod"/>
              <a:tabLst>
                <a:tab pos="113030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Иначе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возводим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i="1">
                <a:solidFill>
                  <a:srgbClr val="333333"/>
                </a:solidFill>
                <a:latin typeface="Trebuchet MS"/>
                <a:cs typeface="Trebuchet MS"/>
              </a:rPr>
              <a:t>y</a:t>
            </a:r>
            <a:r>
              <a:rPr dirty="0" sz="2600" spc="-7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квадрат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до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75" i="1">
                <a:solidFill>
                  <a:srgbClr val="333333"/>
                </a:solidFill>
                <a:latin typeface="Trebuchet MS"/>
                <a:cs typeface="Trebuchet MS"/>
              </a:rPr>
              <a:t>s</a:t>
            </a:r>
            <a:r>
              <a:rPr dirty="0" sz="2600" spc="-18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30">
                <a:solidFill>
                  <a:srgbClr val="333333"/>
                </a:solidFill>
                <a:latin typeface="Lucida Sans Unicode"/>
                <a:cs typeface="Lucida Sans Unicode"/>
              </a:rPr>
              <a:t>−</a:t>
            </a:r>
            <a:r>
              <a:rPr dirty="0" sz="2600" spc="-22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204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раз: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Если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получаем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18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30">
                <a:solidFill>
                  <a:srgbClr val="333333"/>
                </a:solidFill>
                <a:latin typeface="Lucida Sans Unicode"/>
                <a:cs typeface="Lucida Sans Unicode"/>
              </a:rPr>
              <a:t>−</a:t>
            </a:r>
            <a:r>
              <a:rPr dirty="0" sz="2600" spc="-22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21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проходит</a:t>
            </a:r>
            <a:r>
              <a:rPr dirty="0" sz="2150" spc="5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35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Если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получаем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21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до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этого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составное</a:t>
            </a:r>
            <a:endParaRPr sz="2150">
              <a:latin typeface="Segoe UI"/>
              <a:cs typeface="Segoe UI"/>
            </a:endParaRPr>
          </a:p>
          <a:p>
            <a:pPr marL="576580" indent="-280035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5765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Если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ни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разу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не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получили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40" i="1">
                <a:solidFill>
                  <a:srgbClr val="333333"/>
                </a:solidFill>
                <a:latin typeface="Trebuchet MS"/>
                <a:cs typeface="Trebuchet MS"/>
              </a:rPr>
              <a:t>n</a:t>
            </a:r>
            <a:r>
              <a:rPr dirty="0" sz="2600" spc="-180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2600" spc="-30">
                <a:solidFill>
                  <a:srgbClr val="333333"/>
                </a:solidFill>
                <a:latin typeface="Lucida Sans Unicode"/>
                <a:cs typeface="Lucida Sans Unicode"/>
              </a:rPr>
              <a:t>−</a:t>
            </a:r>
            <a:r>
              <a:rPr dirty="0" sz="2600" spc="-22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0">
                <a:solidFill>
                  <a:srgbClr val="333333"/>
                </a:solidFill>
                <a:latin typeface="Lucida Sans Unicode"/>
                <a:cs typeface="Lucida Sans Unicode"/>
              </a:rPr>
              <a:t>1</a:t>
            </a:r>
            <a:r>
              <a:rPr dirty="0" sz="2600" spc="-20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составное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5" y="1981200"/>
          <a:ext cx="8334375" cy="3486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/>
                <a:gridCol w="1590675"/>
                <a:gridCol w="1485900"/>
                <a:gridCol w="1924050"/>
                <a:gridCol w="2143125"/>
              </a:tblGrid>
              <a:tr h="94297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Число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25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Тип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035" marR="281940" indent="184150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 spc="-2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Тест </a:t>
                      </a: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Ферма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0" marR="344170" indent="-204470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Миллер– </a:t>
                      </a:r>
                      <a:r>
                        <a:rPr dirty="0" sz="2150" spc="-2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Рабин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Комментарий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17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Простое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✅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✅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Корректно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25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Составное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✅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✅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Корректно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97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Простое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✅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✅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Корректно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561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Кармайкл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❌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 Emoji"/>
                          <a:cs typeface="Segoe UI Emoji"/>
                        </a:rPr>
                        <a:t>✅</a:t>
                      </a:r>
                      <a:endParaRPr sz="2150">
                        <a:latin typeface="Segoe UI Emoji"/>
                        <a:cs typeface="Segoe UI Emoj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869950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Ферма обманут!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752475" y="5629275"/>
            <a:ext cx="66675" cy="409575"/>
          </a:xfrm>
          <a:custGeom>
            <a:avLst/>
            <a:gdLst/>
            <a:ahLst/>
            <a:cxnLst/>
            <a:rect l="l" t="t" r="r" b="b"/>
            <a:pathLst>
              <a:path w="66675" h="409575">
                <a:moveTo>
                  <a:pt x="66675" y="409575"/>
                </a:moveTo>
                <a:lnTo>
                  <a:pt x="0" y="409575"/>
                </a:lnTo>
                <a:lnTo>
                  <a:pt x="0" y="0"/>
                </a:lnTo>
                <a:lnTo>
                  <a:pt x="66675" y="0"/>
                </a:lnTo>
                <a:lnTo>
                  <a:pt x="66675" y="40957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65"/>
              <a:t>Пример</a:t>
            </a:r>
            <a:r>
              <a:rPr dirty="0" spc="-10"/>
              <a:t> </a:t>
            </a:r>
            <a:r>
              <a:rPr dirty="0" spc="60"/>
              <a:t>реализации:</a:t>
            </a:r>
            <a:r>
              <a:rPr dirty="0" spc="-5"/>
              <a:t> </a:t>
            </a:r>
            <a:r>
              <a:rPr dirty="0"/>
              <a:t>Тест</a:t>
            </a:r>
            <a:r>
              <a:rPr dirty="0" spc="-10"/>
              <a:t> </a:t>
            </a:r>
            <a:r>
              <a:rPr dirty="0" spc="65"/>
              <a:t>Ферма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077912" y="5654675"/>
            <a:ext cx="6654800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Число</a:t>
            </a:r>
            <a:r>
              <a:rPr dirty="0" sz="2150" spc="1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 spc="-35">
                <a:solidFill>
                  <a:srgbClr val="777777"/>
                </a:solidFill>
                <a:latin typeface="Segoe UI"/>
                <a:cs typeface="Segoe UI"/>
              </a:rPr>
              <a:t>561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=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3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×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 spc="-295">
                <a:solidFill>
                  <a:srgbClr val="777777"/>
                </a:solidFill>
                <a:latin typeface="Segoe UI"/>
                <a:cs typeface="Segoe UI"/>
              </a:rPr>
              <a:t>11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×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 spc="-145">
                <a:solidFill>
                  <a:srgbClr val="777777"/>
                </a:solidFill>
                <a:latin typeface="Segoe UI"/>
                <a:cs typeface="Segoe UI"/>
              </a:rPr>
              <a:t>17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—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первое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число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777777"/>
                </a:solidFill>
                <a:latin typeface="Segoe UI"/>
                <a:cs typeface="Segoe UI"/>
              </a:rPr>
              <a:t>Кармайкла.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71382"/>
            <a:ext cx="140335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80"/>
              <a:t>Выводы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057525"/>
            <a:ext cx="95250" cy="9525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4452" rIns="0" bIns="0" rtlCol="0" vert="horz">
            <a:spAutoFit/>
          </a:bodyPr>
          <a:lstStyle/>
          <a:p>
            <a:pPr marL="565150" marR="757555">
              <a:lnSpc>
                <a:spcPct val="145300"/>
              </a:lnSpc>
              <a:spcBef>
                <a:spcPts val="95"/>
              </a:spcBef>
            </a:pPr>
            <a:r>
              <a:rPr dirty="0"/>
              <a:t>Все</a:t>
            </a:r>
            <a:r>
              <a:rPr dirty="0" spc="25"/>
              <a:t> </a:t>
            </a:r>
            <a:r>
              <a:rPr dirty="0"/>
              <a:t>три</a:t>
            </a:r>
            <a:r>
              <a:rPr dirty="0" spc="40"/>
              <a:t> </a:t>
            </a:r>
            <a:r>
              <a:rPr dirty="0"/>
              <a:t>алгоритма</a:t>
            </a:r>
            <a:r>
              <a:rPr dirty="0" spc="35"/>
              <a:t> </a:t>
            </a:r>
            <a:r>
              <a:rPr dirty="0"/>
              <a:t>реализованы</a:t>
            </a:r>
            <a:r>
              <a:rPr dirty="0" spc="35"/>
              <a:t> </a:t>
            </a:r>
            <a:r>
              <a:rPr dirty="0"/>
              <a:t>и</a:t>
            </a:r>
            <a:r>
              <a:rPr dirty="0" spc="40"/>
              <a:t> </a:t>
            </a:r>
            <a:r>
              <a:rPr dirty="0" spc="-10"/>
              <a:t>протестированы </a:t>
            </a:r>
            <a:r>
              <a:rPr dirty="0"/>
              <a:t>Тест</a:t>
            </a:r>
            <a:r>
              <a:rPr dirty="0" spc="85"/>
              <a:t> </a:t>
            </a:r>
            <a:r>
              <a:rPr dirty="0" spc="55"/>
              <a:t>Ферма</a:t>
            </a:r>
            <a:r>
              <a:rPr dirty="0" spc="90"/>
              <a:t> </a:t>
            </a:r>
            <a:r>
              <a:rPr dirty="0"/>
              <a:t>ненадёжен</a:t>
            </a:r>
            <a:r>
              <a:rPr dirty="0" spc="95"/>
              <a:t> </a:t>
            </a:r>
            <a:r>
              <a:rPr dirty="0"/>
              <a:t>из‐за</a:t>
            </a:r>
            <a:r>
              <a:rPr dirty="0" spc="90"/>
              <a:t> </a:t>
            </a:r>
            <a:r>
              <a:rPr dirty="0"/>
              <a:t>чисел</a:t>
            </a:r>
            <a:r>
              <a:rPr dirty="0" spc="95"/>
              <a:t> </a:t>
            </a:r>
            <a:r>
              <a:rPr dirty="0" spc="-10"/>
              <a:t>Кармайкла</a:t>
            </a: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dirty="0"/>
              <a:t>Тест</a:t>
            </a:r>
            <a:r>
              <a:rPr dirty="0" spc="150"/>
              <a:t> </a:t>
            </a:r>
            <a:r>
              <a:rPr dirty="0"/>
              <a:t>Миллера–Рабина</a:t>
            </a:r>
            <a:r>
              <a:rPr dirty="0" spc="145"/>
              <a:t> </a:t>
            </a:r>
            <a:r>
              <a:rPr dirty="0"/>
              <a:t>показал</a:t>
            </a:r>
            <a:r>
              <a:rPr dirty="0" spc="150"/>
              <a:t> </a:t>
            </a:r>
            <a:r>
              <a:rPr dirty="0" spc="55"/>
              <a:t>наивысшую</a:t>
            </a:r>
            <a:r>
              <a:rPr dirty="0" spc="145"/>
              <a:t> </a:t>
            </a:r>
            <a:r>
              <a:rPr dirty="0" spc="40"/>
              <a:t>надёжность</a:t>
            </a:r>
          </a:p>
          <a:p>
            <a:pPr marL="565150" marR="5080">
              <a:lnSpc>
                <a:spcPct val="125000"/>
              </a:lnSpc>
              <a:spcBef>
                <a:spcPts val="600"/>
              </a:spcBef>
            </a:pPr>
            <a:r>
              <a:rPr dirty="0"/>
              <a:t>Он</a:t>
            </a:r>
            <a:r>
              <a:rPr dirty="0" spc="55"/>
              <a:t> </a:t>
            </a:r>
            <a:r>
              <a:rPr dirty="0"/>
              <a:t>эффективен,</a:t>
            </a:r>
            <a:r>
              <a:rPr dirty="0" spc="55"/>
              <a:t> </a:t>
            </a:r>
            <a:r>
              <a:rPr dirty="0"/>
              <a:t>масштабируем</a:t>
            </a:r>
            <a:r>
              <a:rPr dirty="0" spc="55"/>
              <a:t> </a:t>
            </a:r>
            <a:r>
              <a:rPr dirty="0"/>
              <a:t>и</a:t>
            </a:r>
            <a:r>
              <a:rPr dirty="0" spc="55"/>
              <a:t> </a:t>
            </a:r>
            <a:r>
              <a:rPr dirty="0"/>
              <a:t>широко</a:t>
            </a:r>
            <a:r>
              <a:rPr dirty="0" spc="50"/>
              <a:t> </a:t>
            </a:r>
            <a:r>
              <a:rPr dirty="0"/>
              <a:t>используется</a:t>
            </a:r>
            <a:r>
              <a:rPr dirty="0" spc="55"/>
              <a:t> </a:t>
            </a:r>
            <a:r>
              <a:rPr dirty="0" spc="-50"/>
              <a:t>в </a:t>
            </a:r>
            <a:r>
              <a:rPr dirty="0"/>
              <a:t>реальных</a:t>
            </a:r>
            <a:r>
              <a:rPr dirty="0" spc="50"/>
              <a:t> </a:t>
            </a:r>
            <a:r>
              <a:rPr dirty="0"/>
              <a:t>системах</a:t>
            </a:r>
            <a:r>
              <a:rPr dirty="0" spc="65"/>
              <a:t> </a:t>
            </a:r>
            <a:r>
              <a:rPr dirty="0" spc="-10"/>
              <a:t>безопасности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533775"/>
            <a:ext cx="95250" cy="952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010025"/>
            <a:ext cx="95250" cy="952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4958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317240"/>
            <a:ext cx="469519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0">
                <a:solidFill>
                  <a:srgbClr val="224466"/>
                </a:solidFill>
              </a:rPr>
              <a:t>Спасибо</a:t>
            </a:r>
            <a:r>
              <a:rPr dirty="0" sz="3450" spc="15">
                <a:solidFill>
                  <a:srgbClr val="224466"/>
                </a:solidFill>
              </a:rPr>
              <a:t> </a:t>
            </a:r>
            <a:r>
              <a:rPr dirty="0" sz="3450" spc="55">
                <a:solidFill>
                  <a:srgbClr val="224466"/>
                </a:solidFill>
              </a:rPr>
              <a:t>за</a:t>
            </a:r>
            <a:r>
              <a:rPr dirty="0" sz="3450" spc="20">
                <a:solidFill>
                  <a:srgbClr val="224466"/>
                </a:solidFill>
              </a:rPr>
              <a:t> </a:t>
            </a:r>
            <a:r>
              <a:rPr dirty="0" sz="3450" spc="60">
                <a:solidFill>
                  <a:srgbClr val="224466"/>
                </a:solidFill>
              </a:rPr>
              <a:t>внимание!</a:t>
            </a:r>
            <a:endParaRPr sz="3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2025-11-08T12:43:08Z</dcterms:created>
  <dcterms:modified xsi:type="dcterms:W3CDTF">2025-11-08T12:43:08Z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2025-11-08T00:00:00Z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2025-11-08T00:00:00Z</vt:filetime>
  </property>
  <property fmtid="{D5CDD505-2E9C-101B-9397-08002B2CF9AE}" pid="5" name="Producer">
    <vt:lpwstr>Skia/PDF m52</vt:lpwstr>
  </property>
</Properties>
</file>